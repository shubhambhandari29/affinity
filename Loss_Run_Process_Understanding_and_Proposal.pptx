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B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4114800" cy="2743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SPECIAL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07008"/>
            <a:ext cx="7955279" cy="64008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Loss Run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38528"/>
            <a:ext cx="896112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000" b="0">
                <a:solidFill>
                  <a:srgbClr val="DAE4EF"/>
                </a:solidFill>
                <a:latin typeface="Aptos"/>
              </a:rPr>
              <a:t>Current-state understanding and application integration proposal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880360"/>
            <a:ext cx="2057400" cy="438912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DISCOVERY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9601200" cy="4572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What happens today  •  What can be reused  •  What a future user flow could look like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09160"/>
            <a:ext cx="1600200" cy="566928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4709160"/>
            <a:ext cx="1600200" cy="566928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709160"/>
            <a:ext cx="1600200" cy="566928"/>
          </a:xfrm>
          <a:prstGeom prst="roundRect">
            <a:avLst/>
          </a:prstGeom>
          <a:solidFill>
            <a:srgbClr val="FF8936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EXCEL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399" y="4709160"/>
            <a:ext cx="1600200" cy="566928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144768"/>
            <a:ext cx="1033272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Prepared from SpecialAccountsToExcel.py and the supplied SAC_Loss_Run view definition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Our understanding in one 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057400" cy="1051560"/>
          </a:xfrm>
          <a:prstGeom prst="roundRect">
            <a:avLst/>
          </a:prstGeom>
          <a:solidFill>
            <a:srgbClr val="FFEFE7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2F2F2F"/>
                </a:solidFill>
                <a:latin typeface="Aptos"/>
              </a:rPr>
              <a:t>Database view</a:t>
            </a:r>
          </a:p>
          <a:p>
            <a:pPr algn="ctr">
              <a:spcBef>
                <a:spcPts val="500"/>
              </a:spcBef>
            </a:pPr>
            <a:r>
              <a:rPr sz="1200">
                <a:solidFill>
                  <a:srgbClr val="2F2F2F"/>
                </a:solidFill>
                <a:latin typeface="Aptos"/>
              </a:rPr>
              <a:t>Prepares report-ready claim and financial data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71216" y="2249424"/>
            <a:ext cx="502920" cy="292608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02152" y="1874519"/>
            <a:ext cx="2240280" cy="1051560"/>
          </a:xfrm>
          <a:prstGeom prst="roundRect">
            <a:avLst/>
          </a:prstGeom>
          <a:solidFill>
            <a:srgbClr val="FFE5D9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2F2F2F"/>
                </a:solidFill>
                <a:latin typeface="Aptos"/>
              </a:rPr>
              <a:t>Databricks notebook</a:t>
            </a:r>
          </a:p>
          <a:p>
            <a:pPr algn="ctr">
              <a:spcBef>
                <a:spcPts val="500"/>
              </a:spcBef>
            </a:pPr>
            <a:r>
              <a:rPr sz="1200">
                <a:solidFill>
                  <a:srgbClr val="2F2F2F"/>
                </a:solidFill>
                <a:latin typeface="Aptos"/>
              </a:rPr>
              <a:t>Formats and separates each customer's records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70448" y="2249424"/>
            <a:ext cx="502920" cy="292608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874519"/>
            <a:ext cx="2011680" cy="1051560"/>
          </a:xfrm>
          <a:prstGeom prst="roundRect">
            <a:avLst/>
          </a:prstGeom>
          <a:solidFill>
            <a:srgbClr val="FFF3E9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2F2F2F"/>
                </a:solidFill>
                <a:latin typeface="Aptos"/>
              </a:rPr>
              <a:t>Excel template</a:t>
            </a:r>
          </a:p>
          <a:p>
            <a:pPr algn="ctr">
              <a:spcBef>
                <a:spcPts val="500"/>
              </a:spcBef>
            </a:pPr>
            <a:r>
              <a:rPr sz="1200">
                <a:solidFill>
                  <a:srgbClr val="2F2F2F"/>
                </a:solidFill>
                <a:latin typeface="Aptos"/>
              </a:rPr>
              <a:t>Supplies cover, worksheets, pivots and chart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650224" y="2249424"/>
            <a:ext cx="502920" cy="292608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90304" y="1874519"/>
            <a:ext cx="2103120" cy="1051560"/>
          </a:xfrm>
          <a:prstGeom prst="roundRect">
            <a:avLst/>
          </a:prstGeom>
          <a:solidFill>
            <a:srgbClr val="E8F4EB"/>
          </a:solidFill>
          <a:ln w="15240">
            <a:solidFill>
              <a:srgbClr val="368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2F2F2F"/>
                </a:solidFill>
                <a:latin typeface="Aptos"/>
              </a:rPr>
              <a:t>Customer report</a:t>
            </a:r>
          </a:p>
          <a:p>
            <a:pPr algn="ctr">
              <a:spcBef>
                <a:spcPts val="500"/>
              </a:spcBef>
            </a:pPr>
            <a:r>
              <a:rPr sz="1200">
                <a:solidFill>
                  <a:srgbClr val="2F2F2F"/>
                </a:solidFill>
                <a:latin typeface="Aptos"/>
              </a:rPr>
              <a:t>One editable .xlsx workbook per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703320"/>
            <a:ext cx="1920240" cy="25603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300" b="1">
                <a:solidFill>
                  <a:srgbClr val="DD3A05"/>
                </a:solidFill>
                <a:latin typeface="Aptos"/>
              </a:rPr>
              <a:t>Core observation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050791"/>
            <a:ext cx="10515600" cy="59436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400" b="1">
                <a:solidFill>
                  <a:srgbClr val="2F2F2F"/>
                </a:solidFill>
                <a:latin typeface="Aptos"/>
              </a:rPr>
              <a:t>The database prepares the business data; Python mainly turns that data into the required Excel report.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138928"/>
            <a:ext cx="1874519" cy="320040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CONFIRMED FROM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5111496"/>
            <a:ext cx="8046720" cy="38404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600" b="0">
                <a:solidFill>
                  <a:srgbClr val="252D36"/>
                </a:solidFill>
                <a:latin typeface="Aptos"/>
              </a:rPr>
              <a:t>The current process is batch-oriented and runs outside the existing application.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Current source systems and database relationship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88920" y="1353312"/>
            <a:ext cx="6629400" cy="585216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Same SQL Server / Managed Instance</a:t>
            </a:r>
          </a:p>
        </p:txBody>
      </p:sp>
      <p:sp>
        <p:nvSpPr>
          <p:cNvPr id="6" name="Down Arrow 5"/>
          <p:cNvSpPr/>
          <p:nvPr/>
        </p:nvSpPr>
        <p:spPr>
          <a:xfrm>
            <a:off x="4133087" y="1993392"/>
            <a:ext cx="347472" cy="411480"/>
          </a:xfrm>
          <a:prstGeom prst="downArrow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wn Arrow 6"/>
          <p:cNvSpPr/>
          <p:nvPr/>
        </p:nvSpPr>
        <p:spPr>
          <a:xfrm>
            <a:off x="7680960" y="1993392"/>
            <a:ext cx="347472" cy="411480"/>
          </a:xfrm>
          <a:prstGeom prst="downArrow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468880"/>
            <a:ext cx="5257800" cy="2697480"/>
          </a:xfrm>
          <a:prstGeom prst="roundRect">
            <a:avLst/>
          </a:prstGeom>
          <a:solidFill>
            <a:srgbClr val="FFEFE7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2100" b="1">
                <a:solidFill>
                  <a:srgbClr val="2F2F2F"/>
                </a:solidFill>
                <a:latin typeface="Aptos"/>
              </a:rPr>
              <a:t>CLM_LakeHouse</a:t>
            </a:r>
          </a:p>
          <a:p>
            <a:pPr algn="ctr">
              <a:spcBef>
                <a:spcPts val="500"/>
              </a:spcBef>
            </a:pPr>
            <a:r>
              <a:rPr sz="1600">
                <a:solidFill>
                  <a:srgbClr val="2F2F2F"/>
                </a:solidFill>
                <a:latin typeface="Aptos"/>
              </a:rPr>
              <a:t>Claims source database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257800" cy="2697480"/>
          </a:xfrm>
          <a:prstGeom prst="roundRect">
            <a:avLst/>
          </a:prstGeom>
          <a:solidFill>
            <a:srgbClr val="FFE5D9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2100" b="1">
                <a:solidFill>
                  <a:srgbClr val="2F2F2F"/>
                </a:solidFill>
                <a:latin typeface="Aptos"/>
              </a:rPr>
              <a:t>CLMAA_SpecialAccounts</a:t>
            </a:r>
          </a:p>
          <a:p>
            <a:pPr algn="ctr">
              <a:spcBef>
                <a:spcPts val="500"/>
              </a:spcBef>
            </a:pPr>
            <a:r>
              <a:rPr sz="1600">
                <a:solidFill>
                  <a:srgbClr val="2F2F2F"/>
                </a:solidFill>
                <a:latin typeface="Aptos"/>
              </a:rPr>
              <a:t>Special Accounts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703320"/>
            <a:ext cx="4114800" cy="7315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500" b="0">
                <a:solidFill>
                  <a:srgbClr val="252D36"/>
                </a:solidFill>
                <a:latin typeface="Aptos"/>
              </a:rPr>
              <a:t>Claims  •  Policies  •  Financials
Claimants  •  Vehicles  •  Litigation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7872"/>
            <a:ext cx="2057400" cy="7315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400" b="1">
                <a:solidFill>
                  <a:srgbClr val="252D36"/>
                </a:solidFill>
                <a:latin typeface="Aptos"/>
              </a:rPr>
              <a:t>tblAcctSpecial
Eligible customer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3547872"/>
            <a:ext cx="2057400" cy="7315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400" b="1">
                <a:solidFill>
                  <a:srgbClr val="252D36"/>
                </a:solidFill>
                <a:latin typeface="Aptos"/>
              </a:rPr>
              <a:t>SAC_Loss_Run
Reporting view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779008" y="3657600"/>
            <a:ext cx="384048" cy="310896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4023360"/>
            <a:ext cx="1691640" cy="29260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000" b="1">
                <a:solidFill>
                  <a:srgbClr val="6F7A86"/>
                </a:solidFill>
                <a:latin typeface="Aptos"/>
              </a:rPr>
              <a:t>cross-database reads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687568"/>
            <a:ext cx="1143000" cy="320040"/>
          </a:xfrm>
          <a:prstGeom prst="roundRect">
            <a:avLst/>
          </a:prstGeom>
          <a:solidFill>
            <a:srgbClr val="368959"/>
          </a:solidFill>
          <a:ln w="15240">
            <a:solidFill>
              <a:srgbClr val="368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CONFIRMED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4248" y="5660136"/>
            <a:ext cx="7863840" cy="32004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Both databases are on the same server; they are separate databases.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Two queries drive the current notebook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05840" cy="320040"/>
          </a:xfrm>
          <a:prstGeom prst="roundRect">
            <a:avLst/>
          </a:prstGeom>
          <a:solidFill>
            <a:srgbClr val="FF4B0A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QUERY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56231"/>
            <a:ext cx="5257800" cy="1051560"/>
          </a:xfrm>
          <a:prstGeom prst="roundRect">
            <a:avLst/>
          </a:prstGeom>
          <a:solidFill>
            <a:srgbClr val="FFEFE7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2000" b="1">
                <a:solidFill>
                  <a:srgbClr val="2F2F2F"/>
                </a:solidFill>
                <a:latin typeface="Aptos"/>
              </a:rPr>
              <a:t>Find eligible customers</a:t>
            </a:r>
          </a:p>
          <a:p>
            <a:pPr algn="ctr">
              <a:spcBef>
                <a:spcPts val="500"/>
              </a:spcBef>
            </a:pPr>
            <a:r>
              <a:rPr sz="1500">
                <a:solidFill>
                  <a:srgbClr val="2F2F2F"/>
                </a:solidFill>
                <a:latin typeface="Aptos"/>
              </a:rPr>
              <a:t>Reads tblAcctSpecial</a:t>
            </a:r>
          </a:p>
        </p:txBody>
      </p:sp>
      <p:sp>
        <p:nvSpPr>
          <p:cNvPr id="7" name="Oval 6"/>
          <p:cNvSpPr/>
          <p:nvPr/>
        </p:nvSpPr>
        <p:spPr>
          <a:xfrm>
            <a:off x="960120" y="3282696"/>
            <a:ext cx="91440" cy="91440"/>
          </a:xfrm>
          <a:prstGeom prst="ellipse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182112"/>
            <a:ext cx="4507992" cy="502919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Account status is Active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3785616"/>
            <a:ext cx="91440" cy="91440"/>
          </a:xfrm>
          <a:prstGeom prst="ellipse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685032"/>
            <a:ext cx="4507992" cy="502919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Loss-run frequency is provided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4288536"/>
            <a:ext cx="91440" cy="91440"/>
          </a:xfrm>
          <a:prstGeom prst="ellipse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4187952"/>
            <a:ext cx="4507992" cy="502919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Frequency is not ‘Not Needed’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17320"/>
            <a:ext cx="1005840" cy="320040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QUERY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56231"/>
            <a:ext cx="5257800" cy="1051560"/>
          </a:xfrm>
          <a:prstGeom prst="roundRect">
            <a:avLst/>
          </a:prstGeom>
          <a:solidFill>
            <a:srgbClr val="FFE5D9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2000" b="1">
                <a:solidFill>
                  <a:srgbClr val="2F2F2F"/>
                </a:solidFill>
                <a:latin typeface="Aptos"/>
              </a:rPr>
              <a:t>Read prepared loss-run data</a:t>
            </a:r>
          </a:p>
          <a:p>
            <a:pPr algn="ctr">
              <a:spcBef>
                <a:spcPts val="500"/>
              </a:spcBef>
            </a:pPr>
            <a:r>
              <a:rPr sz="1500">
                <a:solidFill>
                  <a:srgbClr val="2F2F2F"/>
                </a:solidFill>
                <a:latin typeface="Aptos"/>
              </a:rPr>
              <a:t>SELECT * FROM SAC_Loss_Run</a:t>
            </a:r>
          </a:p>
        </p:txBody>
      </p:sp>
      <p:sp>
        <p:nvSpPr>
          <p:cNvPr id="15" name="Oval 14"/>
          <p:cNvSpPr/>
          <p:nvPr/>
        </p:nvSpPr>
        <p:spPr>
          <a:xfrm>
            <a:off x="6473952" y="3282696"/>
            <a:ext cx="91440" cy="91440"/>
          </a:xfrm>
          <a:prstGeom prst="ellipse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182112"/>
            <a:ext cx="4462272" cy="502919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Returns report-ready rows for qualifying accounts</a:t>
            </a:r>
          </a:p>
        </p:txBody>
      </p:sp>
      <p:sp>
        <p:nvSpPr>
          <p:cNvPr id="17" name="Oval 16"/>
          <p:cNvSpPr/>
          <p:nvPr/>
        </p:nvSpPr>
        <p:spPr>
          <a:xfrm>
            <a:off x="6473952" y="3785616"/>
            <a:ext cx="91440" cy="91440"/>
          </a:xfrm>
          <a:prstGeom prst="ellipse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685032"/>
            <a:ext cx="4462272" cy="502919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Notebook separates the result by customer</a:t>
            </a:r>
          </a:p>
        </p:txBody>
      </p:sp>
      <p:sp>
        <p:nvSpPr>
          <p:cNvPr id="19" name="Oval 18"/>
          <p:cNvSpPr/>
          <p:nvPr/>
        </p:nvSpPr>
        <p:spPr>
          <a:xfrm>
            <a:off x="6473952" y="4288536"/>
            <a:ext cx="91440" cy="91440"/>
          </a:xfrm>
          <a:prstGeom prst="ellipse">
            <a:avLst/>
          </a:prstGeom>
          <a:solidFill>
            <a:srgbClr val="DD3A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187952"/>
            <a:ext cx="4462272" cy="502919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Future UI flow can request only the selected customer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5148072"/>
            <a:ext cx="8366760" cy="658368"/>
          </a:xfrm>
          <a:prstGeom prst="roundRect">
            <a:avLst/>
          </a:prstGeom>
          <a:solidFill>
            <a:srgbClr val="FFF3E9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2F2F2F"/>
                </a:solidFill>
                <a:latin typeface="Aptos"/>
              </a:rPr>
              <a:t>The complex calculations are inside the view—not recreated by the notebook.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What the SAC_Loss_Run view prepares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" cy="548640"/>
          </a:xfrm>
          <a:prstGeom prst="roundRect">
            <a:avLst/>
          </a:prstGeom>
          <a:solidFill>
            <a:srgbClr val="FF4B0A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1399032"/>
            <a:ext cx="2926080" cy="2743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700" b="1">
                <a:solidFill>
                  <a:srgbClr val="2F2F2F"/>
                </a:solidFill>
                <a:latin typeface="Aptos"/>
              </a:rPr>
              <a:t>Selects current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5968" y="1399032"/>
            <a:ext cx="681228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Current claim, feature and policy versions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96312"/>
            <a:ext cx="548640" cy="548640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78024"/>
            <a:ext cx="2926080" cy="2743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700" b="1">
                <a:solidFill>
                  <a:srgbClr val="2F2F2F"/>
                </a:solidFill>
                <a:latin typeface="Aptos"/>
              </a:rPr>
              <a:t>Combines business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2478024"/>
            <a:ext cx="681228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Claims, policies, claimants, vehicles, adjusters and litigation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75304"/>
            <a:ext cx="548640" cy="548640"/>
          </a:xfrm>
          <a:prstGeom prst="roundRect">
            <a:avLst/>
          </a:prstGeom>
          <a:solidFill>
            <a:srgbClr val="FF8936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3557016"/>
            <a:ext cx="2926080" cy="2743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700" b="1">
                <a:solidFill>
                  <a:srgbClr val="2F2F2F"/>
                </a:solidFill>
                <a:latin typeface="Aptos"/>
              </a:rPr>
              <a:t>Calculates financials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3557016"/>
            <a:ext cx="681228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Reserves, payments, ALAE, recoveries and incurred totals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54296"/>
            <a:ext cx="548640" cy="548640"/>
          </a:xfrm>
          <a:prstGeom prst="roundRect">
            <a:avLst/>
          </a:prstGeom>
          <a:solidFill>
            <a:srgbClr val="368959"/>
          </a:solidFill>
          <a:ln w="15240">
            <a:solidFill>
              <a:srgbClr val="368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4636008"/>
            <a:ext cx="2926080" cy="2743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700" b="1">
                <a:solidFill>
                  <a:srgbClr val="2F2F2F"/>
                </a:solidFill>
                <a:latin typeface="Aptos"/>
              </a:rPr>
              <a:t>Applies report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36008"/>
            <a:ext cx="681228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Open/closed claims, outstanding reserves and eligible accounts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705856"/>
            <a:ext cx="1600200" cy="402336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Resulting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5669280"/>
            <a:ext cx="8458200" cy="38404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Primarily one row per claim feature / exposure—not necessarily one row per claim.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How the current workbook is produced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70432" y="1508760"/>
            <a:ext cx="438912" cy="438912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1600200" cy="8686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3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2F2F2F"/>
                </a:solidFill>
                <a:latin typeface="Aptos"/>
              </a:rPr>
              <a:t>Select customer rows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31136" y="2322576"/>
            <a:ext cx="246888" cy="219456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90672" y="1508760"/>
            <a:ext cx="438912" cy="438912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57400"/>
            <a:ext cx="1600200" cy="8686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3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2F2F2F"/>
                </a:solidFill>
                <a:latin typeface="Aptos"/>
              </a:rPr>
              <a:t>Format identifiers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51376" y="2322576"/>
            <a:ext cx="246888" cy="219456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10912" y="1508760"/>
            <a:ext cx="438912" cy="438912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057400"/>
            <a:ext cx="1600200" cy="8686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3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2F2F2F"/>
                </a:solidFill>
                <a:latin typeface="Aptos"/>
              </a:rPr>
              <a:t>Split claims / record only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71616" y="2322576"/>
            <a:ext cx="246888" cy="219456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31152" y="1508760"/>
            <a:ext cx="438912" cy="438912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57400"/>
            <a:ext cx="1600200" cy="8686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3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2F2F2F"/>
                </a:solidFill>
                <a:latin typeface="Aptos"/>
              </a:rPr>
              <a:t>Fill Excel template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91856" y="2322576"/>
            <a:ext cx="246888" cy="219456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51392" y="1508760"/>
            <a:ext cx="438912" cy="438912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057400"/>
            <a:ext cx="1600200" cy="8686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3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2F2F2F"/>
                </a:solidFill>
                <a:latin typeface="Aptos"/>
              </a:rPr>
              <a:t>Set refresh on open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912096" y="2322576"/>
            <a:ext cx="246888" cy="219456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771632" y="1508760"/>
            <a:ext cx="438912" cy="438912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2057400"/>
            <a:ext cx="1600200" cy="8686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3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2F2F2F"/>
                </a:solidFill>
                <a:latin typeface="Aptos"/>
              </a:rPr>
              <a:t>Save customer workbook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502152"/>
            <a:ext cx="1828800" cy="2743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1">
                <a:solidFill>
                  <a:srgbClr val="DD3A05"/>
                </a:solidFill>
                <a:latin typeface="Aptos"/>
              </a:rPr>
              <a:t>Current output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913632"/>
            <a:ext cx="2834640" cy="1325880"/>
          </a:xfrm>
          <a:prstGeom prst="roundRect">
            <a:avLst/>
          </a:prstGeom>
          <a:solidFill>
            <a:srgbClr val="FFF3E9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2000" b="1">
                <a:solidFill>
                  <a:srgbClr val="2F2F2F"/>
                </a:solidFill>
                <a:latin typeface="Aptos"/>
              </a:rPr>
              <a:t>Microsoft Excel (.xlsx)</a:t>
            </a:r>
          </a:p>
          <a:p>
            <a:pPr algn="ctr">
              <a:spcBef>
                <a:spcPts val="500"/>
              </a:spcBef>
            </a:pPr>
            <a:r>
              <a:rPr sz="1500">
                <a:solidFill>
                  <a:srgbClr val="2F2F2F"/>
                </a:solidFill>
                <a:latin typeface="Aptos"/>
              </a:rPr>
              <a:t>One workbook per qualifying customer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7328" y="3913632"/>
            <a:ext cx="3520440" cy="1325880"/>
          </a:xfrm>
          <a:prstGeom prst="roundRect">
            <a:avLst/>
          </a:prstGeom>
          <a:solidFill>
            <a:srgbClr val="FFEFE7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2000" b="1">
                <a:solidFill>
                  <a:srgbClr val="2F2F2F"/>
                </a:solidFill>
                <a:latin typeface="Aptos"/>
              </a:rPr>
              <a:t>Workbook structure</a:t>
            </a:r>
          </a:p>
          <a:p>
            <a:pPr algn="ctr">
              <a:spcBef>
                <a:spcPts val="500"/>
              </a:spcBef>
            </a:pPr>
            <a:r>
              <a:rPr sz="1500">
                <a:solidFill>
                  <a:srgbClr val="2F2F2F"/>
                </a:solidFill>
                <a:latin typeface="Aptos"/>
              </a:rPr>
              <a:t>Cover Page • Claims Data • Record Only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913632"/>
            <a:ext cx="3931920" cy="1325880"/>
          </a:xfrm>
          <a:prstGeom prst="roundRect">
            <a:avLst/>
          </a:prstGeom>
          <a:solidFill>
            <a:srgbClr val="FFE5D9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2000" b="1">
                <a:solidFill>
                  <a:srgbClr val="2F2F2F"/>
                </a:solidFill>
                <a:latin typeface="Aptos"/>
              </a:rPr>
              <a:t>Summary output</a:t>
            </a:r>
          </a:p>
          <a:p>
            <a:pPr algn="ctr">
              <a:spcBef>
                <a:spcPts val="500"/>
              </a:spcBef>
            </a:pPr>
            <a:r>
              <a:rPr sz="1500">
                <a:solidFill>
                  <a:srgbClr val="2F2F2F"/>
                </a:solidFill>
                <a:latin typeface="Aptos"/>
              </a:rPr>
              <a:t>Summary by Policy Year • Chart • refresh on open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87568"/>
            <a:ext cx="8046720" cy="2743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300" b="0">
                <a:solidFill>
                  <a:srgbClr val="6F7A86"/>
                </a:solidFill>
                <a:latin typeface="Aptos"/>
              </a:rPr>
              <a:t>Current filename pattern: &lt;Customer Name&gt;_&lt;YYYY_MM_DD&gt;.xlsx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PROPOSED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Potential future flow within the existing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75488" y="1874519"/>
            <a:ext cx="1572768" cy="658368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670048"/>
            <a:ext cx="1572768" cy="54864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100" b="0">
                <a:solidFill>
                  <a:srgbClr val="252D36"/>
                </a:solidFill>
                <a:latin typeface="Aptos"/>
              </a:rPr>
              <a:t>Selects a customer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03120" y="2084831"/>
            <a:ext cx="265176" cy="228600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14016" y="1874519"/>
            <a:ext cx="1572768" cy="658368"/>
          </a:xfrm>
          <a:prstGeom prst="roundRect">
            <a:avLst/>
          </a:prstGeom>
          <a:solidFill>
            <a:srgbClr val="FF4B0A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Application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2670048"/>
            <a:ext cx="1572768" cy="54864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100" b="0">
                <a:solidFill>
                  <a:srgbClr val="252D36"/>
                </a:solidFill>
                <a:latin typeface="Aptos"/>
              </a:rPr>
              <a:t>Requests a loss run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41648" y="2084831"/>
            <a:ext cx="265176" cy="228600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2544" y="1874519"/>
            <a:ext cx="1572768" cy="658368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FastAPI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670048"/>
            <a:ext cx="1572768" cy="54864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100" b="0">
                <a:solidFill>
                  <a:srgbClr val="252D36"/>
                </a:solidFill>
                <a:latin typeface="Aptos"/>
              </a:rPr>
              <a:t>Validates and coordinates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80176" y="2084831"/>
            <a:ext cx="265176" cy="228600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91072" y="1874519"/>
            <a:ext cx="1572768" cy="658368"/>
          </a:xfrm>
          <a:prstGeom prst="roundRect">
            <a:avLst/>
          </a:prstGeom>
          <a:solidFill>
            <a:srgbClr val="FF8936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SAC_Loss_Run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670048"/>
            <a:ext cx="1572768" cy="54864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100" b="0">
                <a:solidFill>
                  <a:srgbClr val="252D36"/>
                </a:solidFill>
                <a:latin typeface="Aptos"/>
              </a:rPr>
              <a:t>Returns selected customer's 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18704" y="2084831"/>
            <a:ext cx="265176" cy="228600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1874519"/>
            <a:ext cx="1572768" cy="658368"/>
          </a:xfrm>
          <a:prstGeom prst="roundRect">
            <a:avLst/>
          </a:prstGeom>
          <a:solidFill>
            <a:srgbClr val="368959"/>
          </a:solidFill>
          <a:ln w="15240">
            <a:solidFill>
              <a:srgbClr val="368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Excel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670048"/>
            <a:ext cx="1572768" cy="54864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100" b="0">
                <a:solidFill>
                  <a:srgbClr val="252D36"/>
                </a:solidFill>
                <a:latin typeface="Aptos"/>
              </a:rPr>
              <a:t>Fills existing template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857232" y="2084831"/>
            <a:ext cx="265176" cy="228600"/>
          </a:xfrm>
          <a:prstGeom prst="rightArrow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68128" y="1874519"/>
            <a:ext cx="1572768" cy="658368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Download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2670048"/>
            <a:ext cx="1572768" cy="54864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ctr"/>
            <a:r>
              <a:rPr sz="1100" b="0">
                <a:solidFill>
                  <a:srgbClr val="252D36"/>
                </a:solidFill>
                <a:latin typeface="Aptos"/>
              </a:rPr>
              <a:t>Returns .xlsx to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005072"/>
            <a:ext cx="1143000" cy="384048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005072"/>
            <a:ext cx="9144000" cy="38404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Database view • business calculations • Excel template • authentication • database connection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800600"/>
            <a:ext cx="1143000" cy="384048"/>
          </a:xfrm>
          <a:prstGeom prst="roundRect">
            <a:avLst/>
          </a:prstGeom>
          <a:solidFill>
            <a:srgbClr val="FF8936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Adapt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800600"/>
            <a:ext cx="9144000" cy="38404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Databricks-specific code • file handling • API response • user feedback and error handling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5733288"/>
            <a:ext cx="2487168" cy="320040"/>
          </a:xfrm>
          <a:prstGeom prst="roundRect">
            <a:avLst/>
          </a:prstGeom>
          <a:solidFill>
            <a:srgbClr val="FF4B0A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PROPOSAL — NOT YET IMPLEMENTED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Key considerations before delivery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67512" y="1444752"/>
            <a:ext cx="3401568" cy="457200"/>
          </a:xfrm>
          <a:prstGeom prst="roundRect">
            <a:avLst/>
          </a:prstGeom>
          <a:solidFill>
            <a:srgbClr val="FF4B0A"/>
          </a:solidFill>
          <a:ln w="15240">
            <a:solidFill>
              <a:srgbClr val="FF4B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956816"/>
            <a:ext cx="3401568" cy="10972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B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0">
                <a:solidFill>
                  <a:srgbClr val="252D36"/>
                </a:solidFill>
                <a:latin typeface="Aptos"/>
              </a:rPr>
              <a:t>Confirm the approved workbook and required visual fidelity.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1444752"/>
            <a:ext cx="3401568" cy="457200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9704" y="1956816"/>
            <a:ext cx="3401568" cy="10972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B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0">
                <a:solidFill>
                  <a:srgbClr val="252D36"/>
                </a:solidFill>
                <a:latin typeface="Aptos"/>
              </a:rPr>
              <a:t>Confirm application permission to read the reporting 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1444752"/>
            <a:ext cx="3401568" cy="457200"/>
          </a:xfrm>
          <a:prstGeom prst="roundRect">
            <a:avLst/>
          </a:prstGeom>
          <a:solidFill>
            <a:srgbClr val="FF8936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956816"/>
            <a:ext cx="3401568" cy="10972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B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0">
                <a:solidFill>
                  <a:srgbClr val="252D36"/>
                </a:solidFill>
                <a:latin typeface="Aptos"/>
              </a:rPr>
              <a:t>Measure generation time for customers with large claim volumes.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438144"/>
            <a:ext cx="3401568" cy="457200"/>
          </a:xfrm>
          <a:prstGeom prst="roundRect">
            <a:avLst/>
          </a:prstGeom>
          <a:solidFill>
            <a:srgbClr val="368959"/>
          </a:solidFill>
          <a:ln w="15240">
            <a:solidFill>
              <a:srgbClr val="368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Security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950208"/>
            <a:ext cx="3401568" cy="10972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B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0">
                <a:solidFill>
                  <a:srgbClr val="252D36"/>
                </a:solidFill>
                <a:latin typeface="Aptos"/>
              </a:rPr>
              <a:t>Confirm which users may generate which customer reports.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4" y="3438144"/>
            <a:ext cx="3401568" cy="457200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Delivery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9704" y="3950208"/>
            <a:ext cx="3401568" cy="10972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B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0">
                <a:solidFill>
                  <a:srgbClr val="252D36"/>
                </a:solidFill>
                <a:latin typeface="Aptos"/>
              </a:rPr>
              <a:t>Decide immediate download, storage, email—or a later phase.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3438144"/>
            <a:ext cx="3401568" cy="457200"/>
          </a:xfrm>
          <a:prstGeom prst="roundRect">
            <a:avLst/>
          </a:prstGeom>
          <a:solidFill>
            <a:srgbClr val="BB4949"/>
          </a:solidFill>
          <a:ln w="15240">
            <a:solidFill>
              <a:srgbClr val="BB4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3950208"/>
            <a:ext cx="3401568" cy="109728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DB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0">
                <a:solidFill>
                  <a:srgbClr val="252D36"/>
                </a:solidFill>
                <a:latin typeface="Aptos"/>
              </a:rPr>
              <a:t>Compare new output with a known-good current report.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559552"/>
            <a:ext cx="1965960" cy="420624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Recommended first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5559552"/>
            <a:ext cx="8275320" cy="38404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0">
                <a:solidFill>
                  <a:srgbClr val="252D36"/>
                </a:solidFill>
                <a:latin typeface="Aptos"/>
              </a:rPr>
              <a:t>Generate one selected customer's workbook and return it to the authenticated user.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CLIENT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What is confirmed—and what remains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53312"/>
            <a:ext cx="5394960" cy="493776"/>
          </a:xfrm>
          <a:prstGeom prst="roundRect">
            <a:avLst/>
          </a:prstGeom>
          <a:solidFill>
            <a:srgbClr val="368959"/>
          </a:solidFill>
          <a:ln w="15240">
            <a:solidFill>
              <a:srgbClr val="368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CONFIRMED FROM SUPPLIED MATERIAL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12264"/>
            <a:ext cx="91440" cy="91440"/>
          </a:xfrm>
          <a:prstGeom prst="ellipse">
            <a:avLst/>
          </a:prstGeom>
          <a:solidFill>
            <a:srgbClr val="368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11680"/>
            <a:ext cx="478231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Two databases on the same server / managed instance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715768"/>
            <a:ext cx="91440" cy="91440"/>
          </a:xfrm>
          <a:prstGeom prst="ellipse">
            <a:avLst/>
          </a:prstGeom>
          <a:solidFill>
            <a:srgbClr val="368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615184"/>
            <a:ext cx="478231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SAC_Loss_Run supplies the prepared report data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319272"/>
            <a:ext cx="91440" cy="91440"/>
          </a:xfrm>
          <a:prstGeom prst="ellipse">
            <a:avLst/>
          </a:prstGeom>
          <a:solidFill>
            <a:srgbClr val="368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218688"/>
            <a:ext cx="478231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Existing workbook template is populated per customer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922776"/>
            <a:ext cx="91440" cy="91440"/>
          </a:xfrm>
          <a:prstGeom prst="ellipse">
            <a:avLst/>
          </a:prstGeom>
          <a:solidFill>
            <a:srgbClr val="368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822191"/>
            <a:ext cx="478231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Normal claims and Record Only incidents are separated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526280"/>
            <a:ext cx="91440" cy="91440"/>
          </a:xfrm>
          <a:prstGeom prst="ellipse">
            <a:avLst/>
          </a:prstGeom>
          <a:solidFill>
            <a:srgbClr val="368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425696"/>
            <a:ext cx="478231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Output is an editable Microsoft Excel workbook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353312"/>
            <a:ext cx="5321808" cy="493776"/>
          </a:xfrm>
          <a:prstGeom prst="roundRect">
            <a:avLst/>
          </a:prstGeom>
          <a:solidFill>
            <a:srgbClr val="FF8936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TO CONFIRM WITH CLIENT</a:t>
            </a:r>
          </a:p>
        </p:txBody>
      </p:sp>
      <p:sp>
        <p:nvSpPr>
          <p:cNvPr id="17" name="Oval 16"/>
          <p:cNvSpPr/>
          <p:nvPr/>
        </p:nvSpPr>
        <p:spPr>
          <a:xfrm>
            <a:off x="6382512" y="2112264"/>
            <a:ext cx="91440" cy="91440"/>
          </a:xfrm>
          <a:prstGeom prst="ellipse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011680"/>
            <a:ext cx="469087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One-customer download, batch generation, or both</a:t>
            </a:r>
          </a:p>
        </p:txBody>
      </p:sp>
      <p:sp>
        <p:nvSpPr>
          <p:cNvPr id="19" name="Oval 18"/>
          <p:cNvSpPr/>
          <p:nvPr/>
        </p:nvSpPr>
        <p:spPr>
          <a:xfrm>
            <a:off x="6382512" y="2715768"/>
            <a:ext cx="91440" cy="91440"/>
          </a:xfrm>
          <a:prstGeom prst="ellipse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615184"/>
            <a:ext cx="469087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Immediate download versus stored or emailed report</a:t>
            </a:r>
          </a:p>
        </p:txBody>
      </p:sp>
      <p:sp>
        <p:nvSpPr>
          <p:cNvPr id="21" name="Oval 20"/>
          <p:cNvSpPr/>
          <p:nvPr/>
        </p:nvSpPr>
        <p:spPr>
          <a:xfrm>
            <a:off x="6382512" y="3319272"/>
            <a:ext cx="91440" cy="91440"/>
          </a:xfrm>
          <a:prstGeom prst="ellipse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18688"/>
            <a:ext cx="469087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Approved template and exact output-matching expectation</a:t>
            </a:r>
          </a:p>
        </p:txBody>
      </p:sp>
      <p:sp>
        <p:nvSpPr>
          <p:cNvPr id="23" name="Oval 22"/>
          <p:cNvSpPr/>
          <p:nvPr/>
        </p:nvSpPr>
        <p:spPr>
          <a:xfrm>
            <a:off x="6382512" y="3922776"/>
            <a:ext cx="91440" cy="91440"/>
          </a:xfrm>
          <a:prstGeom prst="ellipse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822191"/>
            <a:ext cx="469087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Business rules and date-range expectations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382512" y="4526280"/>
            <a:ext cx="91440" cy="91440"/>
          </a:xfrm>
          <a:prstGeom prst="ellipse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4425696"/>
            <a:ext cx="4690872" cy="603503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Expected user permissions and report volumes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01568" y="5559552"/>
            <a:ext cx="1874519" cy="438912"/>
          </a:xfrm>
          <a:prstGeom prst="roundRect">
            <a:avLst/>
          </a:prstGeom>
          <a:solidFill>
            <a:srgbClr val="2F2F2F"/>
          </a:solidFill>
          <a:ln w="15240">
            <a:solidFill>
              <a:srgbClr val="2F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Proposed next step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04688" y="5559552"/>
            <a:ext cx="5230368" cy="41148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500" b="1">
                <a:solidFill>
                  <a:srgbClr val="2F2F2F"/>
                </a:solidFill>
                <a:latin typeface="Aptos"/>
              </a:rPr>
              <a:t>Validate one representative customer and agree the target user experience.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Discovery summary • Based on supplied notebook and SQL view definition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900" b="1">
                <a:solidFill>
                  <a:srgbClr val="DD3A05"/>
                </a:solidFill>
                <a:latin typeface="Aptos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5029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2600" b="1">
                <a:solidFill>
                  <a:srgbClr val="2F2F2F"/>
                </a:solidFill>
                <a:latin typeface="Aptos"/>
              </a:rPr>
              <a:t>Technical source 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FF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303520" cy="29260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600" b="1">
                <a:solidFill>
                  <a:srgbClr val="FF4B0A"/>
                </a:solidFill>
                <a:latin typeface="Aptos"/>
              </a:rPr>
              <a:t>Claims and reference sources — CLM_LakeHouse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883664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5239512" cy="5410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DW_CLMS_CLM_DIMNSN — claims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424683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324100"/>
            <a:ext cx="5239512" cy="5410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DW_CLMS_FTR_DIMNSN — claim features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965704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65120"/>
            <a:ext cx="5239512" cy="5410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DW_FINCL_LOSS_FTR_SS_F — financial feature totals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506723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406139"/>
            <a:ext cx="5239512" cy="5410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DW_FINCL_LOSS_TXN_SS_F — financial transactions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047744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947160"/>
            <a:ext cx="5239512" cy="5410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DW_POL_DIMNSN — policies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588764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488180"/>
            <a:ext cx="5239512" cy="541020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DW_CLMS_CLMNT_DIMNSN — claimants</a:t>
            </a:r>
          </a:p>
        </p:txBody>
      </p:sp>
      <p:sp>
        <p:nvSpPr>
          <p:cNvPr id="18" name="Oval 17"/>
          <p:cNvSpPr/>
          <p:nvPr/>
        </p:nvSpPr>
        <p:spPr>
          <a:xfrm>
            <a:off x="6099048" y="1883664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783080"/>
            <a:ext cx="5193792" cy="649224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DW_CLMS_DRVR_DIMNSN / CLM_CNTCT_DIMNSN — drivers</a:t>
            </a:r>
          </a:p>
        </p:txBody>
      </p:sp>
      <p:sp>
        <p:nvSpPr>
          <p:cNvPr id="20" name="Oval 19"/>
          <p:cNvSpPr/>
          <p:nvPr/>
        </p:nvSpPr>
        <p:spPr>
          <a:xfrm>
            <a:off x="6099048" y="2532888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2432304"/>
            <a:ext cx="5193792" cy="649224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DW_CLMS_VEH_DIMNSN — vehicles</a:t>
            </a:r>
          </a:p>
        </p:txBody>
      </p:sp>
      <p:sp>
        <p:nvSpPr>
          <p:cNvPr id="22" name="Oval 21"/>
          <p:cNvSpPr/>
          <p:nvPr/>
        </p:nvSpPr>
        <p:spPr>
          <a:xfrm>
            <a:off x="6099048" y="3182112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3081528"/>
            <a:ext cx="5193792" cy="649224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DW_CLMS_LGL_FACT / LGL_DIMNSN — litigation</a:t>
            </a:r>
          </a:p>
        </p:txBody>
      </p:sp>
      <p:sp>
        <p:nvSpPr>
          <p:cNvPr id="24" name="Oval 23"/>
          <p:cNvSpPr/>
          <p:nvPr/>
        </p:nvSpPr>
        <p:spPr>
          <a:xfrm>
            <a:off x="6099048" y="3831336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0216" y="3730752"/>
            <a:ext cx="5193792" cy="649224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DW_REF_MAJ_PERIL — peril reference</a:t>
            </a:r>
          </a:p>
        </p:txBody>
      </p:sp>
      <p:sp>
        <p:nvSpPr>
          <p:cNvPr id="26" name="Oval 25"/>
          <p:cNvSpPr/>
          <p:nvPr/>
        </p:nvSpPr>
        <p:spPr>
          <a:xfrm>
            <a:off x="6099048" y="4480560"/>
            <a:ext cx="91440" cy="91440"/>
          </a:xfrm>
          <a:prstGeom prst="ellipse">
            <a:avLst/>
          </a:prstGeom>
          <a:solidFill>
            <a:srgbClr val="FF4B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4379976"/>
            <a:ext cx="5193792" cy="649224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252D36"/>
                </a:solidFill>
                <a:latin typeface="Aptos"/>
              </a:rPr>
              <a:t>DM_RETNTN_PRDCNG_AGNT_HR_D — producing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5175504"/>
            <a:ext cx="2240280" cy="438912"/>
          </a:xfrm>
          <a:prstGeom prst="roundRect">
            <a:avLst/>
          </a:prstGeom>
          <a:solidFill>
            <a:srgbClr val="DD3A05"/>
          </a:solidFill>
          <a:ln w="15240">
            <a:solidFill>
              <a:srgbClr val="DD3A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CLMAA_SpecialAccounts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82112" y="5175504"/>
            <a:ext cx="7973568" cy="420624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tblAcctSpecial — eligible customer configuration   •   SAC_Loss_Run — reporting 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806440"/>
            <a:ext cx="2240280" cy="438912"/>
          </a:xfrm>
          <a:prstGeom prst="roundRect">
            <a:avLst/>
          </a:prstGeom>
          <a:solidFill>
            <a:srgbClr val="FF8936"/>
          </a:solidFill>
          <a:ln w="15240">
            <a:solidFill>
              <a:srgbClr val="FF8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Notebook assets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82112" y="5806440"/>
            <a:ext cx="7973568" cy="420624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1400" b="0">
                <a:solidFill>
                  <a:srgbClr val="252D36"/>
                </a:solidFill>
                <a:latin typeface="Aptos"/>
              </a:rPr>
              <a:t>SACLossRunTemplate.xlsx   •   Databricks Unity Catalog volume   •   .xlsx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510528"/>
            <a:ext cx="9875520" cy="164592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l"/>
            <a:r>
              <a:rPr sz="800" b="0">
                <a:solidFill>
                  <a:srgbClr val="6F7A86"/>
                </a:solidFill>
                <a:latin typeface="Aptos"/>
              </a:rPr>
              <a:t>Appendix • Technical object names from supplied materials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473952"/>
            <a:ext cx="502920" cy="201168"/>
          </a:xfrm>
          <a:prstGeom prst="rect">
            <a:avLst/>
          </a:prstGeom>
          <a:noFill/>
        </p:spPr>
        <p:txBody>
          <a:bodyPr wrap="none" lIns="25400" rIns="25400" tIns="12700" bIns="12700" anchor="t">
            <a:spAutoFit/>
          </a:bodyPr>
          <a:lstStyle/>
          <a:p>
            <a:pPr algn="r"/>
            <a:r>
              <a:rPr sz="900" b="1">
                <a:solidFill>
                  <a:srgbClr val="2F2F2F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Special Accounts Loss Run Generation — Understanding and Proposal</dc:title>
  <dc:subject>Current-state flow and potential FastAPI application integration</dc:subject>
  <dc:creator>Affinity project team</dc:creator>
  <cp:keywords>loss run, Special Accounts, FastAPI, Databricks, Excel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