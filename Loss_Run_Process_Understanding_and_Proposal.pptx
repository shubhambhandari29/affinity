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310896"/>
          </a:xfrm>
          <a:prstGeom prst="rect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411480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FF4B0A"/>
                </a:solidFill>
                <a:latin typeface="Aptos"/>
              </a:rPr>
              <a:t>SPECIAL 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53312"/>
            <a:ext cx="896112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3600" b="1">
                <a:solidFill>
                  <a:srgbClr val="2F2F2F"/>
                </a:solidFill>
                <a:latin typeface="Aptos"/>
              </a:rPr>
              <a:t>Loss Run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48840"/>
            <a:ext cx="987552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000" b="0">
                <a:solidFill>
                  <a:srgbClr val="252D36"/>
                </a:solidFill>
                <a:latin typeface="Aptos"/>
              </a:rPr>
              <a:t>Current-state understanding and application integration proposal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2926080"/>
            <a:ext cx="1234440" cy="64008"/>
          </a:xfrm>
          <a:prstGeom prst="rect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337560"/>
            <a:ext cx="10972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1">
                <a:solidFill>
                  <a:srgbClr val="FF4B0A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30752"/>
            <a:ext cx="9829800" cy="10058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2F2F2F"/>
                </a:solidFill>
                <a:latin typeface="Aptos"/>
              </a:rPr>
              <a:t>Document what the existing loss-run process does today and present a possible path to make it available through the current 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6144768"/>
            <a:ext cx="103327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0">
                <a:solidFill>
                  <a:srgbClr val="6F7A86"/>
                </a:solidFill>
                <a:latin typeface="Aptos"/>
              </a:rPr>
              <a:t>Prepared from SpecialAccountsToExcel.py and the supplied SAC_Loss_Run view definition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Our understanding in one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057400" cy="1051560"/>
          </a:xfrm>
          <a:prstGeom prst="roundRect">
            <a:avLst/>
          </a:prstGeom>
          <a:solidFill>
            <a:srgbClr val="FFEFE7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2F2F2F"/>
                </a:solidFill>
                <a:latin typeface="Aptos"/>
              </a:rPr>
              <a:t>Database view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2F2F2F"/>
                </a:solidFill>
                <a:latin typeface="Aptos"/>
              </a:rPr>
              <a:t>Prepares report-ready claim and financial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71216" y="2249424"/>
            <a:ext cx="502920" cy="292608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02152" y="1874519"/>
            <a:ext cx="2240280" cy="1051560"/>
          </a:xfrm>
          <a:prstGeom prst="roundRect">
            <a:avLst/>
          </a:prstGeom>
          <a:solidFill>
            <a:srgbClr val="FFE5D9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2F2F2F"/>
                </a:solidFill>
                <a:latin typeface="Aptos"/>
              </a:rPr>
              <a:t>Databricks notebook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2F2F2F"/>
                </a:solidFill>
                <a:latin typeface="Aptos"/>
              </a:rPr>
              <a:t>Formats and separates each customer's records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70448" y="2249424"/>
            <a:ext cx="502920" cy="292608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0528" y="1874519"/>
            <a:ext cx="2011680" cy="1051560"/>
          </a:xfrm>
          <a:prstGeom prst="roundRect">
            <a:avLst/>
          </a:prstGeom>
          <a:solidFill>
            <a:srgbClr val="FFF3E9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2F2F2F"/>
                </a:solidFill>
                <a:latin typeface="Aptos"/>
              </a:rPr>
              <a:t>Excel template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2F2F2F"/>
                </a:solidFill>
                <a:latin typeface="Aptos"/>
              </a:rPr>
              <a:t>Supplies cover, worksheets, pivots and chart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50224" y="2249424"/>
            <a:ext cx="502920" cy="292608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90304" y="1874519"/>
            <a:ext cx="2103120" cy="1051560"/>
          </a:xfrm>
          <a:prstGeom prst="roundRect">
            <a:avLst/>
          </a:prstGeom>
          <a:solidFill>
            <a:srgbClr val="E8F4EB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2F2F2F"/>
                </a:solidFill>
                <a:latin typeface="Aptos"/>
              </a:rPr>
              <a:t>Customer report</a:t>
            </a:r>
          </a:p>
          <a:p>
            <a:pPr algn="ctr">
              <a:spcBef>
                <a:spcPts val="500"/>
              </a:spcBef>
            </a:pPr>
            <a:r>
              <a:rPr sz="1200">
                <a:solidFill>
                  <a:srgbClr val="2F2F2F"/>
                </a:solidFill>
                <a:latin typeface="Aptos"/>
              </a:rPr>
              <a:t>One editable .xlsx workbook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703320"/>
            <a:ext cx="192024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DD3A05"/>
                </a:solidFill>
                <a:latin typeface="Aptos"/>
              </a:rPr>
              <a:t>Core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50791"/>
            <a:ext cx="10515600" cy="5943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400" b="1">
                <a:solidFill>
                  <a:srgbClr val="2F2F2F"/>
                </a:solidFill>
                <a:latin typeface="Aptos"/>
              </a:rPr>
              <a:t>The database prepares the business data; Python mainly turns that data into the required Excel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5138928"/>
            <a:ext cx="1874519" cy="320040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CONFIRMED FROM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6352" y="5111496"/>
            <a:ext cx="804672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0">
                <a:solidFill>
                  <a:srgbClr val="252D36"/>
                </a:solidFill>
                <a:latin typeface="Aptos"/>
              </a:rPr>
              <a:t>The current process is batch-oriented and runs outside the existing application.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Where the view lives—and where its data comes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48840" y="1280160"/>
            <a:ext cx="7909560" cy="530352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Same SQL Server / Managed Instance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40280"/>
            <a:ext cx="4709160" cy="2926080"/>
          </a:xfrm>
          <a:prstGeom prst="roundRect">
            <a:avLst/>
          </a:prstGeom>
          <a:solidFill>
            <a:srgbClr val="FFEFE7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100" b="1">
                <a:solidFill>
                  <a:srgbClr val="2F2F2F"/>
                </a:solidFill>
                <a:latin typeface="Aptos"/>
              </a:rPr>
              <a:t>CLM_LakeHouse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F2F2F"/>
                </a:solidFill>
                <a:latin typeface="Aptos"/>
              </a:rPr>
              <a:t>Claims source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3063240"/>
            <a:ext cx="393192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400" b="1">
                <a:solidFill>
                  <a:srgbClr val="FF4B0A"/>
                </a:solidFill>
                <a:latin typeface="Aptos"/>
              </a:rPr>
              <a:t>Underlying source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93008"/>
            <a:ext cx="4005072" cy="7132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500" b="0">
                <a:solidFill>
                  <a:srgbClr val="252D36"/>
                </a:solidFill>
                <a:latin typeface="Aptos"/>
              </a:rPr>
              <a:t>Claims • Policies • Financials
Claimants • Vehicles • Litigation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480560"/>
            <a:ext cx="393192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6F7A86"/>
                </a:solidFill>
                <a:latin typeface="Aptos"/>
              </a:rPr>
              <a:t>The view reads these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2240280"/>
            <a:ext cx="4754880" cy="2926080"/>
          </a:xfrm>
          <a:prstGeom prst="roundRect">
            <a:avLst/>
          </a:prstGeom>
          <a:solidFill>
            <a:srgbClr val="FFE5D9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2100" b="1">
                <a:solidFill>
                  <a:srgbClr val="2F2F2F"/>
                </a:solidFill>
                <a:latin typeface="Aptos"/>
              </a:rPr>
              <a:t>CLMAA_SpecialAccounts</a:t>
            </a:r>
          </a:p>
          <a:p>
            <a:pPr algn="ctr">
              <a:spcBef>
                <a:spcPts val="500"/>
              </a:spcBef>
            </a:pPr>
            <a:r>
              <a:rPr sz="1600">
                <a:solidFill>
                  <a:srgbClr val="2F2F2F"/>
                </a:solidFill>
                <a:latin typeface="Aptos"/>
              </a:rPr>
              <a:t>Special Accounts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50608" y="3172968"/>
            <a:ext cx="169164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2F2F2F"/>
                </a:solidFill>
                <a:latin typeface="Aptos"/>
              </a:rPr>
              <a:t>tblAcctSpecial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2F2F2F"/>
                </a:solidFill>
                <a:latin typeface="Aptos"/>
              </a:rPr>
              <a:t>Eligible customers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20" y="3172968"/>
            <a:ext cx="1874519" cy="1005840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SAC_Loss_Run</a:t>
            </a:r>
          </a:p>
          <a:p>
            <a:pPr algn="ctr">
              <a:spcBef>
                <a:spcPts val="500"/>
              </a:spcBef>
            </a:pPr>
            <a:r>
              <a:rPr sz="1000">
                <a:solidFill>
                  <a:srgbClr val="FFFFFF"/>
                </a:solidFill>
                <a:latin typeface="Aptos"/>
              </a:rPr>
              <a:t>Reporting view lives here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69680" y="3529584"/>
            <a:ext cx="256032" cy="228600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532120" y="3401568"/>
            <a:ext cx="960120" cy="438912"/>
          </a:xfrm>
          <a:prstGeom prst="rightArrow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3913632"/>
            <a:ext cx="141732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000" b="1">
                <a:solidFill>
                  <a:srgbClr val="6F7A86"/>
                </a:solidFill>
                <a:latin typeface="Aptos"/>
              </a:rPr>
              <a:t>cross-database read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87568"/>
            <a:ext cx="1143000" cy="32004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5632704"/>
            <a:ext cx="9144000" cy="43891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The view is stored in CLMAA_SpecialAccounts, but its SQL reads claims data from CLM_LakeHouse.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What the notebook queries—and how each result is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987552" cy="320040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QUERY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5330952" cy="658368"/>
          </a:xfrm>
          <a:prstGeom prst="roundRect">
            <a:avLst/>
          </a:prstGeom>
          <a:solidFill>
            <a:srgbClr val="FFEFE7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900" b="1">
                <a:solidFill>
                  <a:srgbClr val="2F2F2F"/>
                </a:solidFill>
                <a:latin typeface="Aptos"/>
              </a:rPr>
              <a:t>Eligible-customer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660904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FF4B0A"/>
                </a:solidFill>
                <a:latin typeface="Aptos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633472"/>
            <a:ext cx="3977639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2F2F2F"/>
                </a:solidFill>
                <a:latin typeface="Aptos"/>
              </a:rPr>
              <a:t>CLMAA_SpecialAccounts.dbo.tblAcctSpecial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FF4B0A"/>
                </a:solidFill>
                <a:latin typeface="Aptos"/>
              </a:rPr>
              <a:t>Filters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099816"/>
            <a:ext cx="40690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Active account • frequency present • frequency is not ‘Not Needed’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813048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FF4B0A"/>
                </a:solidFill>
                <a:latin typeface="Aptos"/>
              </a:rPr>
              <a:t>Returns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785615"/>
            <a:ext cx="3977639" cy="47548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Customer number, customer name and loss-run 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462272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FF4B0A"/>
                </a:solidFill>
                <a:latin typeface="Aptos"/>
              </a:rPr>
              <a:t>Used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434840"/>
            <a:ext cx="3977639" cy="47548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Builds the list of customers processed by the notebook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353312"/>
            <a:ext cx="987552" cy="320040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QUERY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92224"/>
            <a:ext cx="5303520" cy="658368"/>
          </a:xfrm>
          <a:prstGeom prst="roundRect">
            <a:avLst/>
          </a:prstGeom>
          <a:solidFill>
            <a:srgbClr val="FFE5D9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900" b="1">
                <a:solidFill>
                  <a:srgbClr val="2F2F2F"/>
                </a:solidFill>
                <a:latin typeface="Aptos"/>
              </a:rPr>
              <a:t>Loss-run data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660904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DD3A05"/>
                </a:solidFill>
                <a:latin typeface="Aptos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633472"/>
            <a:ext cx="393192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2F2F2F"/>
                </a:solidFill>
                <a:latin typeface="Aptos"/>
              </a:rPr>
              <a:t>CLMAA_SpecialAccounts.dbo.SAC_Loss_Run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127248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DD3A05"/>
                </a:solidFill>
                <a:latin typeface="Aptos"/>
              </a:rPr>
              <a:t>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099816"/>
            <a:ext cx="393192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1">
                <a:solidFill>
                  <a:srgbClr val="252D36"/>
                </a:solidFill>
                <a:latin typeface="Aptos"/>
              </a:rPr>
              <a:t>SELECT * FROM SAC_Loss_Run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813048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DD3A05"/>
                </a:solidFill>
                <a:latin typeface="Aptos"/>
              </a:rPr>
              <a:t>Returns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3785615"/>
            <a:ext cx="3931920" cy="47548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Prepared policy, claim, feature, financial and report fields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462272"/>
            <a:ext cx="73152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1">
                <a:solidFill>
                  <a:srgbClr val="DD3A05"/>
                </a:solidFill>
                <a:latin typeface="Aptos"/>
              </a:rPr>
              <a:t>Used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4434840"/>
            <a:ext cx="3931920" cy="47548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Filtered in Python by customer, then written into Excel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5285232"/>
            <a:ext cx="10040112" cy="640080"/>
          </a:xfrm>
          <a:prstGeom prst="roundRect">
            <a:avLst/>
          </a:prstGeom>
          <a:solidFill>
            <a:srgbClr val="FFF3E9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2F2F2F"/>
                </a:solidFill>
                <a:latin typeface="Aptos"/>
              </a:rPr>
              <a:t>Important: the notebook loads the complete view result; the proposed UI flow could query only the selected customer.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What the SAC_Loss_Run view prepares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48640" cy="548640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399032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2F2F2F"/>
                </a:solidFill>
                <a:latin typeface="Aptos"/>
              </a:rPr>
              <a:t>Selects current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968" y="1399032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Current claim, feature and policy versions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96312"/>
            <a:ext cx="548640" cy="548640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478024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2F2F2F"/>
                </a:solidFill>
                <a:latin typeface="Aptos"/>
              </a:rPr>
              <a:t>Combines business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478024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Claims, policies, claimants, vehicles, adjusters and litigation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75304"/>
            <a:ext cx="548640" cy="548640"/>
          </a:xfrm>
          <a:prstGeom prst="roundRect">
            <a:avLst/>
          </a:prstGeom>
          <a:solidFill>
            <a:srgbClr val="FF8936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57016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2F2F2F"/>
                </a:solidFill>
                <a:latin typeface="Aptos"/>
              </a:rPr>
              <a:t>Calculates financials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3557016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Reserves, payments, ALAE, recoveries and incurred totals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54296"/>
            <a:ext cx="548640" cy="54864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636008"/>
            <a:ext cx="292608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2F2F2F"/>
                </a:solidFill>
                <a:latin typeface="Aptos"/>
              </a:rPr>
              <a:t>Applies report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4636008"/>
            <a:ext cx="681228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Open/closed claims, outstanding reserves and eligible accounts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705856"/>
            <a:ext cx="1600200" cy="402336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Resulting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669280"/>
            <a:ext cx="845820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Primarily one row per claim feature / exposure—not necessarily one row per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How the notebook turns view data into a workbook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38074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Customer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8308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Keeps only rows belonging to the current customer.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8848" y="138988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8928" y="138074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Data formatting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78308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Preserves identifiers and formats exposure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39328" y="138988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138074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Report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178308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Splits normal claims from Record Only incidents.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6440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5526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Template population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65760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Writes data into Claims Data and Record Only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98848" y="326440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325526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Workbook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65760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Adds cover details and sets pivots to refresh on open.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39328" y="3264408"/>
            <a:ext cx="475488" cy="475488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3255264"/>
            <a:ext cx="2788920" cy="2743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2F2F2F"/>
                </a:solidFill>
                <a:latin typeface="Aptos"/>
              </a:rPr>
              <a:t>File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8" y="3657600"/>
            <a:ext cx="2834640" cy="6583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Saves one dated .xlsx workbook for the customer.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257800"/>
            <a:ext cx="960120" cy="384048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5239512"/>
            <a:ext cx="4160520" cy="32004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2F2F2F"/>
                </a:solidFill>
                <a:latin typeface="Aptos"/>
              </a:rPr>
              <a:t>One Microsoft Excel workbook per qualifying customer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5239512"/>
            <a:ext cx="5394960" cy="4206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300" b="0">
                <a:solidFill>
                  <a:srgbClr val="252D36"/>
                </a:solidFill>
                <a:latin typeface="Aptos"/>
              </a:rPr>
              <a:t>Cover Page • Claims Data • Record Only • Summary by Policy Year • 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7088" y="5806440"/>
            <a:ext cx="5760720" cy="25603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6F7A86"/>
                </a:solidFill>
                <a:latin typeface="Aptos"/>
              </a:rPr>
              <a:t>Filename: &lt;Customer Name&gt;_&lt;YYYY_MM_DD&gt;.xlsx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PROPOSED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How this could work within the existing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61288" y="1353312"/>
            <a:ext cx="438912" cy="438912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01952"/>
            <a:ext cx="1874519" cy="603504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User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88336"/>
            <a:ext cx="1874519" cy="8229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User selects a customer and clicks Generate Loss Run.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1448" y="2093976"/>
            <a:ext cx="320040" cy="228600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93007" y="1353312"/>
            <a:ext cx="438912" cy="438912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901952"/>
            <a:ext cx="1874519" cy="603504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API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688336"/>
            <a:ext cx="1874519" cy="8229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FastAPI confirms authentication and the customer request.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73168" y="2093976"/>
            <a:ext cx="320040" cy="228600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24727" y="1353312"/>
            <a:ext cx="438912" cy="438912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1901952"/>
            <a:ext cx="1874519" cy="603504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View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688336"/>
            <a:ext cx="1874519" cy="8229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Application requests only that customer's loss-run rows.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04888" y="2093976"/>
            <a:ext cx="320040" cy="228600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353312"/>
            <a:ext cx="438912" cy="438912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901952"/>
            <a:ext cx="1874519" cy="603504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Excel creation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688336"/>
            <a:ext cx="1874519" cy="8229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Service applies current formatting and fills the template.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36608" y="2093976"/>
            <a:ext cx="320040" cy="228600"/>
          </a:xfrm>
          <a:prstGeom prst="rightArrow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88168" y="1353312"/>
            <a:ext cx="438912" cy="438912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1901952"/>
            <a:ext cx="1874519" cy="603504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File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688336"/>
            <a:ext cx="1874519" cy="82296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ctr"/>
            <a:r>
              <a:rPr sz="1100" b="0">
                <a:solidFill>
                  <a:srgbClr val="252D36"/>
                </a:solidFill>
                <a:latin typeface="Aptos"/>
              </a:rPr>
              <a:t>The completed .xlsx workbook is returned to the user.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087368"/>
            <a:ext cx="1234440" cy="384048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What stays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59936"/>
            <a:ext cx="886968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SAC_Loss_Run view • business calculations • Excel layout and report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782312"/>
            <a:ext cx="1234440" cy="384048"/>
          </a:xfrm>
          <a:prstGeom prst="roundRect">
            <a:avLst/>
          </a:prstGeom>
          <a:solidFill>
            <a:srgbClr val="FF8936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What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754880"/>
            <a:ext cx="8869680" cy="4572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User initiates the report • application queries one customer • workbook is delivered through the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733288"/>
            <a:ext cx="2487168" cy="320040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PROPOSAL — NOT YET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Key considerations before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444752"/>
            <a:ext cx="3401568" cy="457200"/>
          </a:xfrm>
          <a:prstGeom prst="roundRect">
            <a:avLst/>
          </a:prstGeom>
          <a:solidFill>
            <a:srgbClr val="FF4B0A"/>
          </a:solidFill>
          <a:ln w="15240">
            <a:solidFill>
              <a:srgbClr val="FF4B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Template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the approved workbook and required visual fidelity.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9704" y="1444752"/>
            <a:ext cx="3401568" cy="457200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9704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application permission to read the reporting 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11896" y="1444752"/>
            <a:ext cx="3401568" cy="457200"/>
          </a:xfrm>
          <a:prstGeom prst="roundRect">
            <a:avLst/>
          </a:prstGeom>
          <a:solidFill>
            <a:srgbClr val="FF8936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11896" y="1956816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Measure generation time for customers with large claim volumes.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438144"/>
            <a:ext cx="3401568" cy="457200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Confirm which users may generate which customer reports.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3438144"/>
            <a:ext cx="3401568" cy="457200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Decide immediate download, storage, email—or a later phase.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11896" y="3438144"/>
            <a:ext cx="3401568" cy="457200"/>
          </a:xfrm>
          <a:prstGeom prst="roundRect">
            <a:avLst/>
          </a:prstGeom>
          <a:solidFill>
            <a:srgbClr val="BB4949"/>
          </a:solidFill>
          <a:ln w="15240">
            <a:solidFill>
              <a:srgbClr val="BB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3950208"/>
            <a:ext cx="3401568" cy="10972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B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0">
                <a:solidFill>
                  <a:srgbClr val="252D36"/>
                </a:solidFill>
                <a:latin typeface="Aptos"/>
              </a:rPr>
              <a:t>Compare new output with a known-good current report.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5559552"/>
            <a:ext cx="1965960" cy="420624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Recommended first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5559552"/>
            <a:ext cx="8275320" cy="38404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0">
                <a:solidFill>
                  <a:srgbClr val="252D36"/>
                </a:solidFill>
                <a:latin typeface="Aptos"/>
              </a:rPr>
              <a:t>Generate one selected customer's workbook and return it to the authenticated user.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CLIENT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What is confirmed—and what remains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5394960" cy="493776"/>
          </a:xfrm>
          <a:prstGeom prst="roundRect">
            <a:avLst/>
          </a:prstGeom>
          <a:solidFill>
            <a:srgbClr val="368959"/>
          </a:solidFill>
          <a:ln w="15240">
            <a:solidFill>
              <a:srgbClr val="368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CONFIRMED FROM SUPPLIED MATERIAL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112264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011680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Two databases on the same server / managed instance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15768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615184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SAC_Loss_Run supplies the prepared report data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319272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218688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Existing workbook template is populated per customer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922776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822191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Normal claims and Record Only incidents are separated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526280"/>
            <a:ext cx="91440" cy="91440"/>
          </a:xfrm>
          <a:prstGeom prst="ellipse">
            <a:avLst/>
          </a:prstGeom>
          <a:solidFill>
            <a:srgbClr val="368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425696"/>
            <a:ext cx="478231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Output is an editable Microsoft Excel workbook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53312"/>
            <a:ext cx="5321808" cy="493776"/>
          </a:xfrm>
          <a:prstGeom prst="roundRect">
            <a:avLst/>
          </a:prstGeom>
          <a:solidFill>
            <a:srgbClr val="FF8936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TO CONFIRM WITH CLIENT</a:t>
            </a:r>
          </a:p>
        </p:txBody>
      </p:sp>
      <p:sp>
        <p:nvSpPr>
          <p:cNvPr id="17" name="Oval 16"/>
          <p:cNvSpPr/>
          <p:nvPr/>
        </p:nvSpPr>
        <p:spPr>
          <a:xfrm>
            <a:off x="6382512" y="2112264"/>
            <a:ext cx="91440" cy="9144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011680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One-customer download, batch generation, or both</a:t>
            </a:r>
          </a:p>
        </p:txBody>
      </p:sp>
      <p:sp>
        <p:nvSpPr>
          <p:cNvPr id="19" name="Oval 18"/>
          <p:cNvSpPr/>
          <p:nvPr/>
        </p:nvSpPr>
        <p:spPr>
          <a:xfrm>
            <a:off x="6382512" y="2715768"/>
            <a:ext cx="91440" cy="9144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615184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Immediate download versus stored or emailed report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3319272"/>
            <a:ext cx="91440" cy="9144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218688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Approved template and exact output-matching expectation</a:t>
            </a:r>
          </a:p>
        </p:txBody>
      </p:sp>
      <p:sp>
        <p:nvSpPr>
          <p:cNvPr id="23" name="Oval 22"/>
          <p:cNvSpPr/>
          <p:nvPr/>
        </p:nvSpPr>
        <p:spPr>
          <a:xfrm>
            <a:off x="6382512" y="3922776"/>
            <a:ext cx="91440" cy="9144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822191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Business rules and date-range expectations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6382512" y="4526280"/>
            <a:ext cx="91440" cy="91440"/>
          </a:xfrm>
          <a:prstGeom prst="ellipse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425696"/>
            <a:ext cx="4690872" cy="603503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Expected user permissions and report volumes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1568" y="5559552"/>
            <a:ext cx="1874519" cy="438912"/>
          </a:xfrm>
          <a:prstGeom prst="roundRect">
            <a:avLst/>
          </a:prstGeom>
          <a:solidFill>
            <a:srgbClr val="2F2F2F"/>
          </a:solidFill>
          <a:ln w="15240">
            <a:solidFill>
              <a:srgbClr val="2F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Proposed next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04688" y="5559552"/>
            <a:ext cx="5230368" cy="41148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2F2F2F"/>
                </a:solidFill>
                <a:latin typeface="Aptos"/>
              </a:rPr>
              <a:t>Validate one representative customer and agree the target user experience.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Discovery summary • Based on supplied notebook and SQL view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4114800" cy="22860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900" b="1">
                <a:solidFill>
                  <a:srgbClr val="DD3A05"/>
                </a:solidFill>
                <a:latin typeface="Aptos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12064"/>
            <a:ext cx="10972800" cy="5029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2600" b="1">
                <a:solidFill>
                  <a:srgbClr val="2F2F2F"/>
                </a:solidFill>
                <a:latin typeface="Aptos"/>
              </a:rPr>
              <a:t>Technical source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78992"/>
            <a:ext cx="914400" cy="54864"/>
          </a:xfrm>
          <a:prstGeom prst="rect">
            <a:avLst/>
          </a:prstGeom>
          <a:solidFill>
            <a:srgbClr val="FF8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303520" cy="29260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600" b="1">
                <a:solidFill>
                  <a:srgbClr val="FF4B0A"/>
                </a:solidFill>
                <a:latin typeface="Aptos"/>
              </a:rPr>
              <a:t>Claims and reference sources — CLM_LakeHouse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83664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8308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DW_CLMS_CLM_DIMNSN — claims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424683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32410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DW_CLMS_FTR_DIMNSN — claim features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65704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6512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DW_FINCL_LOSS_FTR_SS_F — financial feature totals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506723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406139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DW_FINCL_LOSS_TXN_SS_F — financial transactions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47744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94716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DW_POL_DIMNSN — policies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588764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488180"/>
            <a:ext cx="5239512" cy="541020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DW_CLMS_CLMNT_DIMNSN — claimants</a:t>
            </a:r>
          </a:p>
        </p:txBody>
      </p:sp>
      <p:sp>
        <p:nvSpPr>
          <p:cNvPr id="18" name="Oval 17"/>
          <p:cNvSpPr/>
          <p:nvPr/>
        </p:nvSpPr>
        <p:spPr>
          <a:xfrm>
            <a:off x="6099048" y="1883664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783080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DW_CLMS_DRVR_DIMNSN / CLM_CNTCT_DIMNSN — drivers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8" y="2532888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2432304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DW_CLMS_VEH_DIMNSN — vehicles</a:t>
            </a:r>
          </a:p>
        </p:txBody>
      </p:sp>
      <p:sp>
        <p:nvSpPr>
          <p:cNvPr id="22" name="Oval 21"/>
          <p:cNvSpPr/>
          <p:nvPr/>
        </p:nvSpPr>
        <p:spPr>
          <a:xfrm>
            <a:off x="6099048" y="3182112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3081528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DW_CLMS_LGL_FACT / LGL_DIMNSN — litigation</a:t>
            </a:r>
          </a:p>
        </p:txBody>
      </p:sp>
      <p:sp>
        <p:nvSpPr>
          <p:cNvPr id="24" name="Oval 23"/>
          <p:cNvSpPr/>
          <p:nvPr/>
        </p:nvSpPr>
        <p:spPr>
          <a:xfrm>
            <a:off x="6099048" y="3831336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30752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DW_REF_MAJ_PERIL — peril reference</a:t>
            </a:r>
          </a:p>
        </p:txBody>
      </p:sp>
      <p:sp>
        <p:nvSpPr>
          <p:cNvPr id="26" name="Oval 25"/>
          <p:cNvSpPr/>
          <p:nvPr/>
        </p:nvSpPr>
        <p:spPr>
          <a:xfrm>
            <a:off x="6099048" y="4480560"/>
            <a:ext cx="91440" cy="91440"/>
          </a:xfrm>
          <a:prstGeom prst="ellipse">
            <a:avLst/>
          </a:prstGeom>
          <a:solidFill>
            <a:srgbClr val="FF4B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4379976"/>
            <a:ext cx="5193792" cy="6492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252D36"/>
                </a:solidFill>
                <a:latin typeface="Aptos"/>
              </a:rPr>
              <a:t>DM_RETNTN_PRDCNG_AGNT_HR_D — producing agent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175504"/>
            <a:ext cx="2240280" cy="438912"/>
          </a:xfrm>
          <a:prstGeom prst="roundRect">
            <a:avLst/>
          </a:prstGeom>
          <a:solidFill>
            <a:srgbClr val="DD3A05"/>
          </a:solidFill>
          <a:ln w="15240">
            <a:solidFill>
              <a:srgbClr val="DD3A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CLMAA_SpecialAccounts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82112" y="5175504"/>
            <a:ext cx="7973568" cy="4206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tblAcctSpecial — eligible customer configuration   •   SAC_Loss_Run — reporting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806440"/>
            <a:ext cx="2240280" cy="438912"/>
          </a:xfrm>
          <a:prstGeom prst="roundRect">
            <a:avLst/>
          </a:prstGeom>
          <a:solidFill>
            <a:srgbClr val="FF8936"/>
          </a:solidFill>
          <a:ln w="15240">
            <a:solidFill>
              <a:srgbClr val="FF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Notebook assets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82112" y="5806440"/>
            <a:ext cx="7973568" cy="420624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1400" b="0">
                <a:solidFill>
                  <a:srgbClr val="252D36"/>
                </a:solidFill>
                <a:latin typeface="Aptos"/>
              </a:rPr>
              <a:t>SACLossRunTemplate.xlsx   •   Databricks Unity Catalog volume   •   .xlsx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9875520" cy="164592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6F7A86"/>
                </a:solidFill>
                <a:latin typeface="Aptos"/>
              </a:rPr>
              <a:t>Appendix • Technical object names from supplied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73952"/>
            <a:ext cx="502920" cy="201168"/>
          </a:xfrm>
          <a:prstGeom prst="rect">
            <a:avLst/>
          </a:prstGeom>
          <a:noFill/>
        </p:spPr>
        <p:txBody>
          <a:bodyPr wrap="none" lIns="25400" rIns="25400" tIns="12700" bIns="12700" anchor="t">
            <a:spAutoFit/>
          </a:bodyPr>
          <a:lstStyle/>
          <a:p>
            <a:pPr algn="r"/>
            <a:r>
              <a:rPr sz="900" b="1">
                <a:solidFill>
                  <a:srgbClr val="2F2F2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Special Accounts Loss Run Generation — Understanding and Proposal</dc:title>
  <dc:subject>Current-state flow and potential FastAPI application integration</dc:subject>
  <dc:creator>Affinity project team</dc:creator>
  <cp:keywords>loss run, Special Accounts, FastAPI, Databricks, Excel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