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4114800" cy="274320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1100" b="1">
                <a:solidFill>
                  <a:srgbClr val="78D2CC"/>
                </a:solidFill>
                <a:latin typeface="Aptos"/>
              </a:rPr>
              <a:t>SPECIAL ACCOUNTS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07008"/>
            <a:ext cx="7955279" cy="640080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Loss Run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38528"/>
            <a:ext cx="8961120" cy="502920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2000" b="0">
                <a:solidFill>
                  <a:srgbClr val="DAE4EF"/>
                </a:solidFill>
                <a:latin typeface="Aptos"/>
              </a:rPr>
              <a:t>Current-state understanding and application integration proposal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2880360"/>
            <a:ext cx="2057400" cy="438912"/>
          </a:xfrm>
          <a:prstGeom prst="roundRect">
            <a:avLst/>
          </a:prstGeom>
          <a:solidFill>
            <a:srgbClr val="18918C"/>
          </a:solidFill>
          <a:ln w="15240">
            <a:solidFill>
              <a:srgbClr val="189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DISCOVERY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11880"/>
            <a:ext cx="9601200" cy="457200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Aptos"/>
              </a:rPr>
              <a:t>What happens today  •  What can be reused  •  What a future user flow could look like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709160"/>
            <a:ext cx="1600200" cy="566928"/>
          </a:xfrm>
          <a:prstGeom prst="roundRect">
            <a:avLst/>
          </a:prstGeom>
          <a:solidFill>
            <a:srgbClr val="2369A0"/>
          </a:solidFill>
          <a:ln w="15240">
            <a:solidFill>
              <a:srgbClr val="23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97480" y="4709160"/>
            <a:ext cx="1600200" cy="566928"/>
          </a:xfrm>
          <a:prstGeom prst="roundRect">
            <a:avLst/>
          </a:prstGeom>
          <a:solidFill>
            <a:srgbClr val="18918C"/>
          </a:solidFill>
          <a:ln w="15240">
            <a:solidFill>
              <a:srgbClr val="189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PROCESS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4709160"/>
            <a:ext cx="1600200" cy="566928"/>
          </a:xfrm>
          <a:prstGeom prst="roundRect">
            <a:avLst/>
          </a:prstGeom>
          <a:solidFill>
            <a:srgbClr val="E8A633"/>
          </a:solidFill>
          <a:ln w="15240">
            <a:solidFill>
              <a:srgbClr val="E8A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EXCEL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29399" y="4709160"/>
            <a:ext cx="1600200" cy="566928"/>
          </a:xfrm>
          <a:prstGeom prst="roundRect">
            <a:avLst/>
          </a:prstGeom>
          <a:solidFill>
            <a:srgbClr val="368959"/>
          </a:solidFill>
          <a:ln w="15240">
            <a:solidFill>
              <a:srgbClr val="368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APPLICATION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144768"/>
            <a:ext cx="10332720" cy="228600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900" b="0">
                <a:solidFill>
                  <a:srgbClr val="B3C2D2"/>
                </a:solidFill>
                <a:latin typeface="Aptos"/>
              </a:rPr>
              <a:t>Prepared from SpecialAccountsToExcel.py and the supplied SAC_Loss_Run view definition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4114800" cy="228600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900" b="1">
                <a:solidFill>
                  <a:srgbClr val="18918C"/>
                </a:solidFill>
                <a:latin typeface="Aptos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12064"/>
            <a:ext cx="10972800" cy="502920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2600" b="1">
                <a:solidFill>
                  <a:srgbClr val="142A4A"/>
                </a:solidFill>
                <a:latin typeface="Aptos"/>
              </a:rPr>
              <a:t>Our understanding in one 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914400" cy="54864"/>
          </a:xfrm>
          <a:prstGeom prst="rect">
            <a:avLst/>
          </a:prstGeom>
          <a:solidFill>
            <a:srgbClr val="E8A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874519"/>
            <a:ext cx="2057400" cy="1051560"/>
          </a:xfrm>
          <a:prstGeom prst="roundRect">
            <a:avLst/>
          </a:prstGeom>
          <a:solidFill>
            <a:srgbClr val="E7F1F9"/>
          </a:solidFill>
          <a:ln w="15240">
            <a:solidFill>
              <a:srgbClr val="23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700" b="1">
                <a:solidFill>
                  <a:srgbClr val="142A4A"/>
                </a:solidFill>
                <a:latin typeface="Aptos"/>
              </a:rPr>
              <a:t>Database view</a:t>
            </a:r>
          </a:p>
          <a:p>
            <a:pPr algn="ctr">
              <a:spcBef>
                <a:spcPts val="500"/>
              </a:spcBef>
            </a:pPr>
            <a:r>
              <a:rPr sz="1200">
                <a:solidFill>
                  <a:srgbClr val="142A4A"/>
                </a:solidFill>
                <a:latin typeface="Aptos"/>
              </a:rPr>
              <a:t>Prepares report-ready claim and financial data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871216" y="2249424"/>
            <a:ext cx="502920" cy="292608"/>
          </a:xfrm>
          <a:prstGeom prst="rightArrow">
            <a:avLst/>
          </a:prstGeom>
          <a:solidFill>
            <a:srgbClr val="E8A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502152" y="1874519"/>
            <a:ext cx="2240280" cy="1051560"/>
          </a:xfrm>
          <a:prstGeom prst="roundRect">
            <a:avLst/>
          </a:prstGeom>
          <a:solidFill>
            <a:srgbClr val="E5F6F4"/>
          </a:solidFill>
          <a:ln w="15240">
            <a:solidFill>
              <a:srgbClr val="189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700" b="1">
                <a:solidFill>
                  <a:srgbClr val="142A4A"/>
                </a:solidFill>
                <a:latin typeface="Aptos"/>
              </a:rPr>
              <a:t>Databricks notebook</a:t>
            </a:r>
          </a:p>
          <a:p>
            <a:pPr algn="ctr">
              <a:spcBef>
                <a:spcPts val="500"/>
              </a:spcBef>
            </a:pPr>
            <a:r>
              <a:rPr sz="1200">
                <a:solidFill>
                  <a:srgbClr val="142A4A"/>
                </a:solidFill>
                <a:latin typeface="Aptos"/>
              </a:rPr>
              <a:t>Formats and separates each customer's records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870448" y="2249424"/>
            <a:ext cx="502920" cy="292608"/>
          </a:xfrm>
          <a:prstGeom prst="rightArrow">
            <a:avLst/>
          </a:prstGeom>
          <a:solidFill>
            <a:srgbClr val="E8A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10528" y="1874519"/>
            <a:ext cx="2011680" cy="1051560"/>
          </a:xfrm>
          <a:prstGeom prst="roundRect">
            <a:avLst/>
          </a:prstGeom>
          <a:solidFill>
            <a:srgbClr val="FCF4E1"/>
          </a:solidFill>
          <a:ln w="15240">
            <a:solidFill>
              <a:srgbClr val="E8A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700" b="1">
                <a:solidFill>
                  <a:srgbClr val="142A4A"/>
                </a:solidFill>
                <a:latin typeface="Aptos"/>
              </a:rPr>
              <a:t>Excel template</a:t>
            </a:r>
          </a:p>
          <a:p>
            <a:pPr algn="ctr">
              <a:spcBef>
                <a:spcPts val="500"/>
              </a:spcBef>
            </a:pPr>
            <a:r>
              <a:rPr sz="1200">
                <a:solidFill>
                  <a:srgbClr val="142A4A"/>
                </a:solidFill>
                <a:latin typeface="Aptos"/>
              </a:rPr>
              <a:t>Supplies cover, worksheets, pivots and chart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650224" y="2249424"/>
            <a:ext cx="502920" cy="292608"/>
          </a:xfrm>
          <a:prstGeom prst="rightArrow">
            <a:avLst/>
          </a:prstGeom>
          <a:solidFill>
            <a:srgbClr val="E8A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290304" y="1874519"/>
            <a:ext cx="2103120" cy="1051560"/>
          </a:xfrm>
          <a:prstGeom prst="roundRect">
            <a:avLst/>
          </a:prstGeom>
          <a:solidFill>
            <a:srgbClr val="E8F4EB"/>
          </a:solidFill>
          <a:ln w="15240">
            <a:solidFill>
              <a:srgbClr val="368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700" b="1">
                <a:solidFill>
                  <a:srgbClr val="142A4A"/>
                </a:solidFill>
                <a:latin typeface="Aptos"/>
              </a:rPr>
              <a:t>Customer report</a:t>
            </a:r>
          </a:p>
          <a:p>
            <a:pPr algn="ctr">
              <a:spcBef>
                <a:spcPts val="500"/>
              </a:spcBef>
            </a:pPr>
            <a:r>
              <a:rPr sz="1200">
                <a:solidFill>
                  <a:srgbClr val="142A4A"/>
                </a:solidFill>
                <a:latin typeface="Aptos"/>
              </a:rPr>
              <a:t>One editable .xlsx workbook per customer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3703320"/>
            <a:ext cx="1920240" cy="256032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1300" b="1">
                <a:solidFill>
                  <a:srgbClr val="18918C"/>
                </a:solidFill>
                <a:latin typeface="Aptos"/>
              </a:rPr>
              <a:t>Core observation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4050791"/>
            <a:ext cx="10515600" cy="594360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2400" b="1">
                <a:solidFill>
                  <a:srgbClr val="142A4A"/>
                </a:solidFill>
                <a:latin typeface="Aptos"/>
              </a:rPr>
              <a:t>The database prepares the business data; Python mainly turns that data into the required Excel report.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5138928"/>
            <a:ext cx="1874519" cy="320040"/>
          </a:xfrm>
          <a:prstGeom prst="roundRect">
            <a:avLst/>
          </a:prstGeom>
          <a:solidFill>
            <a:srgbClr val="18918C"/>
          </a:solidFill>
          <a:ln w="15240">
            <a:solidFill>
              <a:srgbClr val="189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CONFIRMED FROM CODE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16352" y="5111496"/>
            <a:ext cx="8046720" cy="384048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1600" b="0">
                <a:solidFill>
                  <a:srgbClr val="252D36"/>
                </a:solidFill>
                <a:latin typeface="Aptos"/>
              </a:rPr>
              <a:t>The current process is batch-oriented and runs outside the existing application.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510528"/>
            <a:ext cx="9875520" cy="164592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800" b="0">
                <a:solidFill>
                  <a:srgbClr val="6F7A86"/>
                </a:solidFill>
                <a:latin typeface="Aptos"/>
              </a:rPr>
              <a:t>Discovery summary • Based on supplied notebook and SQL view definition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18520" y="6473952"/>
            <a:ext cx="502920" cy="201168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r"/>
            <a:r>
              <a:rPr sz="900" b="1">
                <a:solidFill>
                  <a:srgbClr val="142A4A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4114800" cy="228600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900" b="1">
                <a:solidFill>
                  <a:srgbClr val="18918C"/>
                </a:solidFill>
                <a:latin typeface="Aptos"/>
              </a:rPr>
              <a:t>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12064"/>
            <a:ext cx="10972800" cy="502920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2600" b="1">
                <a:solidFill>
                  <a:srgbClr val="142A4A"/>
                </a:solidFill>
                <a:latin typeface="Aptos"/>
              </a:rPr>
              <a:t>Current source systems and database relationship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914400" cy="54864"/>
          </a:xfrm>
          <a:prstGeom prst="rect">
            <a:avLst/>
          </a:prstGeom>
          <a:solidFill>
            <a:srgbClr val="E8A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88920" y="1353312"/>
            <a:ext cx="6629400" cy="585216"/>
          </a:xfrm>
          <a:prstGeom prst="roundRect">
            <a:avLst/>
          </a:prstGeom>
          <a:solidFill>
            <a:srgbClr val="142A4A"/>
          </a:solidFill>
          <a:ln w="15240">
            <a:solidFill>
              <a:srgbClr val="14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Same SQL Server / Managed Instance</a:t>
            </a:r>
          </a:p>
        </p:txBody>
      </p:sp>
      <p:sp>
        <p:nvSpPr>
          <p:cNvPr id="6" name="Down Arrow 5"/>
          <p:cNvSpPr/>
          <p:nvPr/>
        </p:nvSpPr>
        <p:spPr>
          <a:xfrm>
            <a:off x="4133087" y="1993392"/>
            <a:ext cx="347472" cy="411480"/>
          </a:xfrm>
          <a:prstGeom prst="downArrow">
            <a:avLst/>
          </a:prstGeom>
          <a:solidFill>
            <a:srgbClr val="18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own Arrow 6"/>
          <p:cNvSpPr/>
          <p:nvPr/>
        </p:nvSpPr>
        <p:spPr>
          <a:xfrm>
            <a:off x="7680960" y="1993392"/>
            <a:ext cx="347472" cy="411480"/>
          </a:xfrm>
          <a:prstGeom prst="downArrow">
            <a:avLst/>
          </a:prstGeom>
          <a:solidFill>
            <a:srgbClr val="18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2468880"/>
            <a:ext cx="5257800" cy="2697480"/>
          </a:xfrm>
          <a:prstGeom prst="roundRect">
            <a:avLst/>
          </a:prstGeom>
          <a:solidFill>
            <a:srgbClr val="E7F1F9"/>
          </a:solidFill>
          <a:ln w="15240">
            <a:solidFill>
              <a:srgbClr val="23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2100" b="1">
                <a:solidFill>
                  <a:srgbClr val="142A4A"/>
                </a:solidFill>
                <a:latin typeface="Aptos"/>
              </a:rPr>
              <a:t>CLM_LakeHouse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42A4A"/>
                </a:solidFill>
                <a:latin typeface="Aptos"/>
              </a:rPr>
              <a:t>Claims source database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468880"/>
            <a:ext cx="5257800" cy="2697480"/>
          </a:xfrm>
          <a:prstGeom prst="roundRect">
            <a:avLst/>
          </a:prstGeom>
          <a:solidFill>
            <a:srgbClr val="E5F6F4"/>
          </a:solidFill>
          <a:ln w="15240">
            <a:solidFill>
              <a:srgbClr val="189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2100" b="1">
                <a:solidFill>
                  <a:srgbClr val="142A4A"/>
                </a:solidFill>
                <a:latin typeface="Aptos"/>
              </a:rPr>
              <a:t>CLMAA_SpecialAccounts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42A4A"/>
                </a:solidFill>
                <a:latin typeface="Aptos"/>
              </a:rPr>
              <a:t>Special Accounts database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703320"/>
            <a:ext cx="4114800" cy="731520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ctr"/>
            <a:r>
              <a:rPr sz="1500" b="0">
                <a:solidFill>
                  <a:srgbClr val="252D36"/>
                </a:solidFill>
                <a:latin typeface="Aptos"/>
              </a:rPr>
              <a:t>Claims  •  Policies  •  Financials
Claimants  •  Vehicles  •  Litigation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547872"/>
            <a:ext cx="2057400" cy="731520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ctr"/>
            <a:r>
              <a:rPr sz="1400" b="1">
                <a:solidFill>
                  <a:srgbClr val="252D36"/>
                </a:solidFill>
                <a:latin typeface="Aptos"/>
              </a:rPr>
              <a:t>tblAcctSpecial
Eligible customer configuration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79408" y="3547872"/>
            <a:ext cx="2057400" cy="731520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ctr"/>
            <a:r>
              <a:rPr sz="1400" b="1">
                <a:solidFill>
                  <a:srgbClr val="252D36"/>
                </a:solidFill>
                <a:latin typeface="Aptos"/>
              </a:rPr>
              <a:t>SAC_Loss_Run
Reporting view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779008" y="3657600"/>
            <a:ext cx="384048" cy="310896"/>
          </a:xfrm>
          <a:prstGeom prst="rightArrow">
            <a:avLst/>
          </a:prstGeom>
          <a:solidFill>
            <a:srgbClr val="E8A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56632" y="4023360"/>
            <a:ext cx="1691640" cy="292608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ctr"/>
            <a:r>
              <a:rPr sz="1000" b="1">
                <a:solidFill>
                  <a:srgbClr val="6F7A86"/>
                </a:solidFill>
                <a:latin typeface="Aptos"/>
              </a:rPr>
              <a:t>cross-database reads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5687568"/>
            <a:ext cx="1143000" cy="320040"/>
          </a:xfrm>
          <a:prstGeom prst="roundRect">
            <a:avLst/>
          </a:prstGeom>
          <a:solidFill>
            <a:srgbClr val="368959"/>
          </a:solidFill>
          <a:ln w="15240">
            <a:solidFill>
              <a:srgbClr val="368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CONFIRMED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84248" y="5660136"/>
            <a:ext cx="7863840" cy="320040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1500" b="0">
                <a:solidFill>
                  <a:srgbClr val="252D36"/>
                </a:solidFill>
                <a:latin typeface="Aptos"/>
              </a:rPr>
              <a:t>Both databases are on the same server; they are separate databases.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10528"/>
            <a:ext cx="9875520" cy="164592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800" b="0">
                <a:solidFill>
                  <a:srgbClr val="6F7A86"/>
                </a:solidFill>
                <a:latin typeface="Aptos"/>
              </a:rPr>
              <a:t>Discovery summary • Based on supplied notebook and SQL view definition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18520" y="6473952"/>
            <a:ext cx="502920" cy="201168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r"/>
            <a:r>
              <a:rPr sz="900" b="1">
                <a:solidFill>
                  <a:srgbClr val="142A4A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4114800" cy="228600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900" b="1">
                <a:solidFill>
                  <a:srgbClr val="18918C"/>
                </a:solidFill>
                <a:latin typeface="Aptos"/>
              </a:rPr>
              <a:t>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12064"/>
            <a:ext cx="10972800" cy="502920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2600" b="1">
                <a:solidFill>
                  <a:srgbClr val="142A4A"/>
                </a:solidFill>
                <a:latin typeface="Aptos"/>
              </a:rPr>
              <a:t>Two queries drive the current notebook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914400" cy="54864"/>
          </a:xfrm>
          <a:prstGeom prst="rect">
            <a:avLst/>
          </a:prstGeom>
          <a:solidFill>
            <a:srgbClr val="E8A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417320"/>
            <a:ext cx="1005840" cy="320040"/>
          </a:xfrm>
          <a:prstGeom prst="roundRect">
            <a:avLst/>
          </a:prstGeom>
          <a:solidFill>
            <a:srgbClr val="2369A0"/>
          </a:solidFill>
          <a:ln w="15240">
            <a:solidFill>
              <a:srgbClr val="23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QUERY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856231"/>
            <a:ext cx="5257800" cy="1051560"/>
          </a:xfrm>
          <a:prstGeom prst="roundRect">
            <a:avLst/>
          </a:prstGeom>
          <a:solidFill>
            <a:srgbClr val="E7F1F9"/>
          </a:solidFill>
          <a:ln w="15240">
            <a:solidFill>
              <a:srgbClr val="23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2000" b="1">
                <a:solidFill>
                  <a:srgbClr val="142A4A"/>
                </a:solidFill>
                <a:latin typeface="Aptos"/>
              </a:rPr>
              <a:t>Find eligible customers</a:t>
            </a:r>
          </a:p>
          <a:p>
            <a:pPr algn="ctr">
              <a:spcBef>
                <a:spcPts val="500"/>
              </a:spcBef>
            </a:pPr>
            <a:r>
              <a:rPr sz="1500">
                <a:solidFill>
                  <a:srgbClr val="142A4A"/>
                </a:solidFill>
                <a:latin typeface="Aptos"/>
              </a:rPr>
              <a:t>Reads tblAcctSpecial</a:t>
            </a:r>
          </a:p>
        </p:txBody>
      </p:sp>
      <p:sp>
        <p:nvSpPr>
          <p:cNvPr id="7" name="Oval 6"/>
          <p:cNvSpPr/>
          <p:nvPr/>
        </p:nvSpPr>
        <p:spPr>
          <a:xfrm>
            <a:off x="960120" y="3282696"/>
            <a:ext cx="91440" cy="91440"/>
          </a:xfrm>
          <a:prstGeom prst="ellipse">
            <a:avLst/>
          </a:prstGeom>
          <a:solidFill>
            <a:srgbClr val="18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61288" y="3182112"/>
            <a:ext cx="4507992" cy="502919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1500" b="0">
                <a:solidFill>
                  <a:srgbClr val="252D36"/>
                </a:solidFill>
                <a:latin typeface="Aptos"/>
              </a:rPr>
              <a:t>Account status is Active</a:t>
            </a:r>
          </a:p>
        </p:txBody>
      </p:sp>
      <p:sp>
        <p:nvSpPr>
          <p:cNvPr id="9" name="Oval 8"/>
          <p:cNvSpPr/>
          <p:nvPr/>
        </p:nvSpPr>
        <p:spPr>
          <a:xfrm>
            <a:off x="960120" y="3785616"/>
            <a:ext cx="91440" cy="91440"/>
          </a:xfrm>
          <a:prstGeom prst="ellipse">
            <a:avLst/>
          </a:prstGeom>
          <a:solidFill>
            <a:srgbClr val="18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61288" y="3685032"/>
            <a:ext cx="4507992" cy="502919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1500" b="0">
                <a:solidFill>
                  <a:srgbClr val="252D36"/>
                </a:solidFill>
                <a:latin typeface="Aptos"/>
              </a:rPr>
              <a:t>Loss-run frequency is provided</a:t>
            </a:r>
          </a:p>
        </p:txBody>
      </p:sp>
      <p:sp>
        <p:nvSpPr>
          <p:cNvPr id="11" name="Oval 10"/>
          <p:cNvSpPr/>
          <p:nvPr/>
        </p:nvSpPr>
        <p:spPr>
          <a:xfrm>
            <a:off x="960120" y="4288536"/>
            <a:ext cx="91440" cy="91440"/>
          </a:xfrm>
          <a:prstGeom prst="ellipse">
            <a:avLst/>
          </a:prstGeom>
          <a:solidFill>
            <a:srgbClr val="18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61288" y="4187952"/>
            <a:ext cx="4507992" cy="502919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1500" b="0">
                <a:solidFill>
                  <a:srgbClr val="252D36"/>
                </a:solidFill>
                <a:latin typeface="Aptos"/>
              </a:rPr>
              <a:t>Frequency is not ‘Not Needed’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417320"/>
            <a:ext cx="1005840" cy="320040"/>
          </a:xfrm>
          <a:prstGeom prst="roundRect">
            <a:avLst/>
          </a:prstGeom>
          <a:solidFill>
            <a:srgbClr val="18918C"/>
          </a:solidFill>
          <a:ln w="15240">
            <a:solidFill>
              <a:srgbClr val="189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QUERY 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856231"/>
            <a:ext cx="5257800" cy="1051560"/>
          </a:xfrm>
          <a:prstGeom prst="roundRect">
            <a:avLst/>
          </a:prstGeom>
          <a:solidFill>
            <a:srgbClr val="E5F6F4"/>
          </a:solidFill>
          <a:ln w="15240">
            <a:solidFill>
              <a:srgbClr val="189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2000" b="1">
                <a:solidFill>
                  <a:srgbClr val="142A4A"/>
                </a:solidFill>
                <a:latin typeface="Aptos"/>
              </a:rPr>
              <a:t>Read prepared loss-run data</a:t>
            </a:r>
          </a:p>
          <a:p>
            <a:pPr algn="ctr">
              <a:spcBef>
                <a:spcPts val="500"/>
              </a:spcBef>
            </a:pPr>
            <a:r>
              <a:rPr sz="1500">
                <a:solidFill>
                  <a:srgbClr val="142A4A"/>
                </a:solidFill>
                <a:latin typeface="Aptos"/>
              </a:rPr>
              <a:t>SELECT * FROM SAC_Loss_Run</a:t>
            </a:r>
          </a:p>
        </p:txBody>
      </p:sp>
      <p:sp>
        <p:nvSpPr>
          <p:cNvPr id="15" name="Oval 14"/>
          <p:cNvSpPr/>
          <p:nvPr/>
        </p:nvSpPr>
        <p:spPr>
          <a:xfrm>
            <a:off x="6473952" y="3282696"/>
            <a:ext cx="91440" cy="91440"/>
          </a:xfrm>
          <a:prstGeom prst="ellipse">
            <a:avLst/>
          </a:prstGeom>
          <a:solidFill>
            <a:srgbClr val="18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3182112"/>
            <a:ext cx="4462272" cy="502919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1500" b="0">
                <a:solidFill>
                  <a:srgbClr val="252D36"/>
                </a:solidFill>
                <a:latin typeface="Aptos"/>
              </a:rPr>
              <a:t>Returns report-ready rows for qualifying accounts</a:t>
            </a:r>
          </a:p>
        </p:txBody>
      </p:sp>
      <p:sp>
        <p:nvSpPr>
          <p:cNvPr id="17" name="Oval 16"/>
          <p:cNvSpPr/>
          <p:nvPr/>
        </p:nvSpPr>
        <p:spPr>
          <a:xfrm>
            <a:off x="6473952" y="3785616"/>
            <a:ext cx="91440" cy="91440"/>
          </a:xfrm>
          <a:prstGeom prst="ellipse">
            <a:avLst/>
          </a:prstGeom>
          <a:solidFill>
            <a:srgbClr val="18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3685032"/>
            <a:ext cx="4462272" cy="502919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1500" b="0">
                <a:solidFill>
                  <a:srgbClr val="252D36"/>
                </a:solidFill>
                <a:latin typeface="Aptos"/>
              </a:rPr>
              <a:t>Notebook separates the result by customer</a:t>
            </a:r>
          </a:p>
        </p:txBody>
      </p:sp>
      <p:sp>
        <p:nvSpPr>
          <p:cNvPr id="19" name="Oval 18"/>
          <p:cNvSpPr/>
          <p:nvPr/>
        </p:nvSpPr>
        <p:spPr>
          <a:xfrm>
            <a:off x="6473952" y="4288536"/>
            <a:ext cx="91440" cy="91440"/>
          </a:xfrm>
          <a:prstGeom prst="ellipse">
            <a:avLst/>
          </a:prstGeom>
          <a:solidFill>
            <a:srgbClr val="18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4187952"/>
            <a:ext cx="4462272" cy="502919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1500" b="0">
                <a:solidFill>
                  <a:srgbClr val="252D36"/>
                </a:solidFill>
                <a:latin typeface="Aptos"/>
              </a:rPr>
              <a:t>Future UI flow can request only the selected customer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920240" y="5148072"/>
            <a:ext cx="8366760" cy="658368"/>
          </a:xfrm>
          <a:prstGeom prst="roundRect">
            <a:avLst/>
          </a:prstGeom>
          <a:solidFill>
            <a:srgbClr val="FCF4E1"/>
          </a:solidFill>
          <a:ln w="15240">
            <a:solidFill>
              <a:srgbClr val="E8A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700" b="1">
                <a:solidFill>
                  <a:srgbClr val="142A4A"/>
                </a:solidFill>
                <a:latin typeface="Aptos"/>
              </a:rPr>
              <a:t>The complex calculations are inside the view—not recreated by the notebook.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10528"/>
            <a:ext cx="9875520" cy="164592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800" b="0">
                <a:solidFill>
                  <a:srgbClr val="6F7A86"/>
                </a:solidFill>
                <a:latin typeface="Aptos"/>
              </a:rPr>
              <a:t>Discovery summary • Based on supplied notebook and SQL view definition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18520" y="6473952"/>
            <a:ext cx="502920" cy="201168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r"/>
            <a:r>
              <a:rPr sz="900" b="1">
                <a:solidFill>
                  <a:srgbClr val="142A4A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4114800" cy="228600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900" b="1">
                <a:solidFill>
                  <a:srgbClr val="18918C"/>
                </a:solidFill>
                <a:latin typeface="Aptos"/>
              </a:rPr>
              <a:t>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12064"/>
            <a:ext cx="10972800" cy="502920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2600" b="1">
                <a:solidFill>
                  <a:srgbClr val="142A4A"/>
                </a:solidFill>
                <a:latin typeface="Aptos"/>
              </a:rPr>
              <a:t>What the SAC_Loss_Run view prepares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914400" cy="54864"/>
          </a:xfrm>
          <a:prstGeom prst="rect">
            <a:avLst/>
          </a:prstGeom>
          <a:solidFill>
            <a:srgbClr val="E8A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48640" cy="548640"/>
          </a:xfrm>
          <a:prstGeom prst="roundRect">
            <a:avLst/>
          </a:prstGeom>
          <a:solidFill>
            <a:srgbClr val="2369A0"/>
          </a:solidFill>
          <a:ln w="15240">
            <a:solidFill>
              <a:srgbClr val="23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81328" y="1399032"/>
            <a:ext cx="2926080" cy="274320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1700" b="1">
                <a:solidFill>
                  <a:srgbClr val="142A4A"/>
                </a:solidFill>
                <a:latin typeface="Aptos"/>
              </a:rPr>
              <a:t>Selects current records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15968" y="1399032"/>
            <a:ext cx="6812280" cy="502920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1400" b="0">
                <a:solidFill>
                  <a:srgbClr val="252D36"/>
                </a:solidFill>
                <a:latin typeface="Aptos"/>
              </a:rPr>
              <a:t>Current claim, feature and policy versions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96312"/>
            <a:ext cx="548640" cy="548640"/>
          </a:xfrm>
          <a:prstGeom prst="roundRect">
            <a:avLst/>
          </a:prstGeom>
          <a:solidFill>
            <a:srgbClr val="18918C"/>
          </a:solidFill>
          <a:ln w="15240">
            <a:solidFill>
              <a:srgbClr val="189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1328" y="2478024"/>
            <a:ext cx="2926080" cy="274320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1700" b="1">
                <a:solidFill>
                  <a:srgbClr val="142A4A"/>
                </a:solidFill>
                <a:latin typeface="Aptos"/>
              </a:rPr>
              <a:t>Combines business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15968" y="2478024"/>
            <a:ext cx="6812280" cy="502920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1400" b="0">
                <a:solidFill>
                  <a:srgbClr val="252D36"/>
                </a:solidFill>
                <a:latin typeface="Aptos"/>
              </a:rPr>
              <a:t>Claims, policies, claimants, vehicles, adjusters and litigation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575304"/>
            <a:ext cx="548640" cy="548640"/>
          </a:xfrm>
          <a:prstGeom prst="roundRect">
            <a:avLst/>
          </a:prstGeom>
          <a:solidFill>
            <a:srgbClr val="E8A633"/>
          </a:solidFill>
          <a:ln w="15240">
            <a:solidFill>
              <a:srgbClr val="E8A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3557016"/>
            <a:ext cx="2926080" cy="274320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1700" b="1">
                <a:solidFill>
                  <a:srgbClr val="142A4A"/>
                </a:solidFill>
                <a:latin typeface="Aptos"/>
              </a:rPr>
              <a:t>Calculates financials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15968" y="3557016"/>
            <a:ext cx="6812280" cy="502920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1400" b="0">
                <a:solidFill>
                  <a:srgbClr val="252D36"/>
                </a:solidFill>
                <a:latin typeface="Aptos"/>
              </a:rPr>
              <a:t>Reserves, payments, ALAE, recoveries and incurred totals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654296"/>
            <a:ext cx="548640" cy="548640"/>
          </a:xfrm>
          <a:prstGeom prst="roundRect">
            <a:avLst/>
          </a:prstGeom>
          <a:solidFill>
            <a:srgbClr val="368959"/>
          </a:solidFill>
          <a:ln w="15240">
            <a:solidFill>
              <a:srgbClr val="368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4636008"/>
            <a:ext cx="2926080" cy="274320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1700" b="1">
                <a:solidFill>
                  <a:srgbClr val="142A4A"/>
                </a:solidFill>
                <a:latin typeface="Aptos"/>
              </a:rPr>
              <a:t>Applies report rules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15968" y="4636008"/>
            <a:ext cx="6812280" cy="502920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1400" b="0">
                <a:solidFill>
                  <a:srgbClr val="252D36"/>
                </a:solidFill>
                <a:latin typeface="Aptos"/>
              </a:rPr>
              <a:t>Open/closed claims, outstanding reserves and eligible accounts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5705856"/>
            <a:ext cx="1600200" cy="402336"/>
          </a:xfrm>
          <a:prstGeom prst="roundRect">
            <a:avLst/>
          </a:prstGeom>
          <a:solidFill>
            <a:srgbClr val="142A4A"/>
          </a:solidFill>
          <a:ln w="15240">
            <a:solidFill>
              <a:srgbClr val="14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Resulting level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78608" y="5669280"/>
            <a:ext cx="8458200" cy="384048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1500" b="0">
                <a:solidFill>
                  <a:srgbClr val="252D36"/>
                </a:solidFill>
                <a:latin typeface="Aptos"/>
              </a:rPr>
              <a:t>Primarily one row per claim feature / exposure—not necessarily one row per claim.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10528"/>
            <a:ext cx="9875520" cy="164592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800" b="0">
                <a:solidFill>
                  <a:srgbClr val="6F7A86"/>
                </a:solidFill>
                <a:latin typeface="Aptos"/>
              </a:rPr>
              <a:t>Discovery summary • Based on supplied notebook and SQL view definition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18520" y="6473952"/>
            <a:ext cx="502920" cy="201168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r"/>
            <a:r>
              <a:rPr sz="900" b="1">
                <a:solidFill>
                  <a:srgbClr val="142A4A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4114800" cy="228600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900" b="1">
                <a:solidFill>
                  <a:srgbClr val="18918C"/>
                </a:solidFill>
                <a:latin typeface="Aptos"/>
              </a:rPr>
              <a:t>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12064"/>
            <a:ext cx="10972800" cy="502920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2600" b="1">
                <a:solidFill>
                  <a:srgbClr val="142A4A"/>
                </a:solidFill>
                <a:latin typeface="Aptos"/>
              </a:rPr>
              <a:t>How the current workbook is produced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914400" cy="54864"/>
          </a:xfrm>
          <a:prstGeom prst="rect">
            <a:avLst/>
          </a:prstGeom>
          <a:solidFill>
            <a:srgbClr val="E8A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70432" y="1508760"/>
            <a:ext cx="438912" cy="438912"/>
          </a:xfrm>
          <a:prstGeom prst="roundRect">
            <a:avLst/>
          </a:prstGeom>
          <a:solidFill>
            <a:srgbClr val="18918C"/>
          </a:solidFill>
          <a:ln w="15240">
            <a:solidFill>
              <a:srgbClr val="189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057400"/>
            <a:ext cx="1600200" cy="868680"/>
          </a:xfrm>
          <a:prstGeom prst="roundRect">
            <a:avLst/>
          </a:prstGeom>
          <a:solidFill>
            <a:srgbClr val="F4F6F8"/>
          </a:solidFill>
          <a:ln w="15240">
            <a:solidFill>
              <a:srgbClr val="D3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300" b="1">
                <a:solidFill>
                  <a:srgbClr val="142A4A"/>
                </a:solidFill>
                <a:latin typeface="Aptos"/>
              </a:rPr>
              <a:t>Select customer rows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231136" y="2322576"/>
            <a:ext cx="246888" cy="219456"/>
          </a:xfrm>
          <a:prstGeom prst="rightArrow">
            <a:avLst/>
          </a:prstGeom>
          <a:solidFill>
            <a:srgbClr val="E8A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090672" y="1508760"/>
            <a:ext cx="438912" cy="438912"/>
          </a:xfrm>
          <a:prstGeom prst="roundRect">
            <a:avLst/>
          </a:prstGeom>
          <a:solidFill>
            <a:srgbClr val="18918C"/>
          </a:solidFill>
          <a:ln w="15240">
            <a:solidFill>
              <a:srgbClr val="189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14600" y="2057400"/>
            <a:ext cx="1600200" cy="868680"/>
          </a:xfrm>
          <a:prstGeom prst="roundRect">
            <a:avLst/>
          </a:prstGeom>
          <a:solidFill>
            <a:srgbClr val="F4F6F8"/>
          </a:solidFill>
          <a:ln w="15240">
            <a:solidFill>
              <a:srgbClr val="D3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300" b="1">
                <a:solidFill>
                  <a:srgbClr val="142A4A"/>
                </a:solidFill>
                <a:latin typeface="Aptos"/>
              </a:rPr>
              <a:t>Format identifiers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51376" y="2322576"/>
            <a:ext cx="246888" cy="219456"/>
          </a:xfrm>
          <a:prstGeom prst="rightArrow">
            <a:avLst/>
          </a:prstGeom>
          <a:solidFill>
            <a:srgbClr val="E8A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10912" y="1508760"/>
            <a:ext cx="438912" cy="438912"/>
          </a:xfrm>
          <a:prstGeom prst="roundRect">
            <a:avLst/>
          </a:prstGeom>
          <a:solidFill>
            <a:srgbClr val="18918C"/>
          </a:solidFill>
          <a:ln w="15240">
            <a:solidFill>
              <a:srgbClr val="189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2057400"/>
            <a:ext cx="1600200" cy="868680"/>
          </a:xfrm>
          <a:prstGeom prst="roundRect">
            <a:avLst/>
          </a:prstGeom>
          <a:solidFill>
            <a:srgbClr val="F4F6F8"/>
          </a:solidFill>
          <a:ln w="15240">
            <a:solidFill>
              <a:srgbClr val="D3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300" b="1">
                <a:solidFill>
                  <a:srgbClr val="142A4A"/>
                </a:solidFill>
                <a:latin typeface="Aptos"/>
              </a:rPr>
              <a:t>Split claims / record only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071616" y="2322576"/>
            <a:ext cx="246888" cy="219456"/>
          </a:xfrm>
          <a:prstGeom prst="rightArrow">
            <a:avLst/>
          </a:prstGeom>
          <a:solidFill>
            <a:srgbClr val="E8A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31152" y="1508760"/>
            <a:ext cx="438912" cy="438912"/>
          </a:xfrm>
          <a:prstGeom prst="roundRect">
            <a:avLst/>
          </a:prstGeom>
          <a:solidFill>
            <a:srgbClr val="18918C"/>
          </a:solidFill>
          <a:ln w="15240">
            <a:solidFill>
              <a:srgbClr val="189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2057400"/>
            <a:ext cx="1600200" cy="868680"/>
          </a:xfrm>
          <a:prstGeom prst="roundRect">
            <a:avLst/>
          </a:prstGeom>
          <a:solidFill>
            <a:srgbClr val="F4F6F8"/>
          </a:solidFill>
          <a:ln w="15240">
            <a:solidFill>
              <a:srgbClr val="D3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300" b="1">
                <a:solidFill>
                  <a:srgbClr val="142A4A"/>
                </a:solidFill>
                <a:latin typeface="Aptos"/>
              </a:rPr>
              <a:t>Fill Excel template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991856" y="2322576"/>
            <a:ext cx="246888" cy="219456"/>
          </a:xfrm>
          <a:prstGeom prst="rightArrow">
            <a:avLst/>
          </a:prstGeom>
          <a:solidFill>
            <a:srgbClr val="E8A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851392" y="1508760"/>
            <a:ext cx="438912" cy="438912"/>
          </a:xfrm>
          <a:prstGeom prst="roundRect">
            <a:avLst/>
          </a:prstGeom>
          <a:solidFill>
            <a:srgbClr val="18918C"/>
          </a:solidFill>
          <a:ln w="15240">
            <a:solidFill>
              <a:srgbClr val="189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75320" y="2057400"/>
            <a:ext cx="1600200" cy="868680"/>
          </a:xfrm>
          <a:prstGeom prst="roundRect">
            <a:avLst/>
          </a:prstGeom>
          <a:solidFill>
            <a:srgbClr val="F4F6F8"/>
          </a:solidFill>
          <a:ln w="15240">
            <a:solidFill>
              <a:srgbClr val="D3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300" b="1">
                <a:solidFill>
                  <a:srgbClr val="142A4A"/>
                </a:solidFill>
                <a:latin typeface="Aptos"/>
              </a:rPr>
              <a:t>Set refresh on open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912096" y="2322576"/>
            <a:ext cx="246888" cy="219456"/>
          </a:xfrm>
          <a:prstGeom prst="rightArrow">
            <a:avLst/>
          </a:prstGeom>
          <a:solidFill>
            <a:srgbClr val="E8A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771632" y="1508760"/>
            <a:ext cx="438912" cy="438912"/>
          </a:xfrm>
          <a:prstGeom prst="roundRect">
            <a:avLst/>
          </a:prstGeom>
          <a:solidFill>
            <a:srgbClr val="18918C"/>
          </a:solidFill>
          <a:ln w="15240">
            <a:solidFill>
              <a:srgbClr val="189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195560" y="2057400"/>
            <a:ext cx="1600200" cy="868680"/>
          </a:xfrm>
          <a:prstGeom prst="roundRect">
            <a:avLst/>
          </a:prstGeom>
          <a:solidFill>
            <a:srgbClr val="F4F6F8"/>
          </a:solidFill>
          <a:ln w="15240">
            <a:solidFill>
              <a:srgbClr val="D3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300" b="1">
                <a:solidFill>
                  <a:srgbClr val="142A4A"/>
                </a:solidFill>
                <a:latin typeface="Aptos"/>
              </a:rPr>
              <a:t>Save customer workbook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502152"/>
            <a:ext cx="1828800" cy="274320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1400" b="1">
                <a:solidFill>
                  <a:srgbClr val="18918C"/>
                </a:solidFill>
                <a:latin typeface="Aptos"/>
              </a:rPr>
              <a:t>Current output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3913632"/>
            <a:ext cx="2834640" cy="1325880"/>
          </a:xfrm>
          <a:prstGeom prst="roundRect">
            <a:avLst/>
          </a:prstGeom>
          <a:solidFill>
            <a:srgbClr val="FCF4E1"/>
          </a:solidFill>
          <a:ln w="15240">
            <a:solidFill>
              <a:srgbClr val="E8A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2000" b="1">
                <a:solidFill>
                  <a:srgbClr val="142A4A"/>
                </a:solidFill>
                <a:latin typeface="Aptos"/>
              </a:rPr>
              <a:t>Microsoft Excel (.xlsx)</a:t>
            </a:r>
          </a:p>
          <a:p>
            <a:pPr algn="ctr">
              <a:spcBef>
                <a:spcPts val="500"/>
              </a:spcBef>
            </a:pPr>
            <a:r>
              <a:rPr sz="1500">
                <a:solidFill>
                  <a:srgbClr val="142A4A"/>
                </a:solidFill>
                <a:latin typeface="Aptos"/>
              </a:rPr>
              <a:t>One workbook per qualifying customer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767328" y="3913632"/>
            <a:ext cx="3520440" cy="1325880"/>
          </a:xfrm>
          <a:prstGeom prst="roundRect">
            <a:avLst/>
          </a:prstGeom>
          <a:solidFill>
            <a:srgbClr val="E7F1F9"/>
          </a:solidFill>
          <a:ln w="15240">
            <a:solidFill>
              <a:srgbClr val="23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2000" b="1">
                <a:solidFill>
                  <a:srgbClr val="142A4A"/>
                </a:solidFill>
                <a:latin typeface="Aptos"/>
              </a:rPr>
              <a:t>Workbook structure</a:t>
            </a:r>
          </a:p>
          <a:p>
            <a:pPr algn="ctr">
              <a:spcBef>
                <a:spcPts val="500"/>
              </a:spcBef>
            </a:pPr>
            <a:r>
              <a:rPr sz="1500">
                <a:solidFill>
                  <a:srgbClr val="142A4A"/>
                </a:solidFill>
                <a:latin typeface="Aptos"/>
              </a:rPr>
              <a:t>Cover Page • Claims Data • Record Only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43800" y="3913632"/>
            <a:ext cx="3931920" cy="1325880"/>
          </a:xfrm>
          <a:prstGeom prst="roundRect">
            <a:avLst/>
          </a:prstGeom>
          <a:solidFill>
            <a:srgbClr val="E5F6F4"/>
          </a:solidFill>
          <a:ln w="15240">
            <a:solidFill>
              <a:srgbClr val="189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2000" b="1">
                <a:solidFill>
                  <a:srgbClr val="142A4A"/>
                </a:solidFill>
                <a:latin typeface="Aptos"/>
              </a:rPr>
              <a:t>Summary output</a:t>
            </a:r>
          </a:p>
          <a:p>
            <a:pPr algn="ctr">
              <a:spcBef>
                <a:spcPts val="500"/>
              </a:spcBef>
            </a:pPr>
            <a:r>
              <a:rPr sz="1500">
                <a:solidFill>
                  <a:srgbClr val="142A4A"/>
                </a:solidFill>
                <a:latin typeface="Aptos"/>
              </a:rPr>
              <a:t>Summary by Policy Year • Chart • refresh on open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5687568"/>
            <a:ext cx="8046720" cy="274320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1300" b="0">
                <a:solidFill>
                  <a:srgbClr val="6F7A86"/>
                </a:solidFill>
                <a:latin typeface="Aptos"/>
              </a:rPr>
              <a:t>Current filename pattern: &lt;Customer Name&gt;_&lt;YYYY_MM_DD&gt;.xlsx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510528"/>
            <a:ext cx="9875520" cy="164592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800" b="0">
                <a:solidFill>
                  <a:srgbClr val="6F7A86"/>
                </a:solidFill>
                <a:latin typeface="Aptos"/>
              </a:rPr>
              <a:t>Discovery summary • Based on supplied notebook and SQL view definition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18520" y="6473952"/>
            <a:ext cx="502920" cy="201168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r"/>
            <a:r>
              <a:rPr sz="900" b="1">
                <a:solidFill>
                  <a:srgbClr val="142A4A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4114800" cy="228600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900" b="1">
                <a:solidFill>
                  <a:srgbClr val="18918C"/>
                </a:solidFill>
                <a:latin typeface="Aptos"/>
              </a:rPr>
              <a:t>PROPOSED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12064"/>
            <a:ext cx="10972800" cy="502920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2600" b="1">
                <a:solidFill>
                  <a:srgbClr val="142A4A"/>
                </a:solidFill>
                <a:latin typeface="Aptos"/>
              </a:rPr>
              <a:t>Potential future flow within the existing application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914400" cy="54864"/>
          </a:xfrm>
          <a:prstGeom prst="rect">
            <a:avLst/>
          </a:prstGeom>
          <a:solidFill>
            <a:srgbClr val="E8A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75488" y="1874519"/>
            <a:ext cx="1572768" cy="658368"/>
          </a:xfrm>
          <a:prstGeom prst="roundRect">
            <a:avLst/>
          </a:prstGeom>
          <a:solidFill>
            <a:srgbClr val="142A4A"/>
          </a:solidFill>
          <a:ln w="15240">
            <a:solidFill>
              <a:srgbClr val="14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User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2670048"/>
            <a:ext cx="1572768" cy="548640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ctr"/>
            <a:r>
              <a:rPr sz="1100" b="0">
                <a:solidFill>
                  <a:srgbClr val="252D36"/>
                </a:solidFill>
                <a:latin typeface="Aptos"/>
              </a:rPr>
              <a:t>Selects a customer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103120" y="2084831"/>
            <a:ext cx="265176" cy="228600"/>
          </a:xfrm>
          <a:prstGeom prst="rightArrow">
            <a:avLst/>
          </a:prstGeom>
          <a:solidFill>
            <a:srgbClr val="E8A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414016" y="1874519"/>
            <a:ext cx="1572768" cy="658368"/>
          </a:xfrm>
          <a:prstGeom prst="roundRect">
            <a:avLst/>
          </a:prstGeom>
          <a:solidFill>
            <a:srgbClr val="2369A0"/>
          </a:solidFill>
          <a:ln w="15240">
            <a:solidFill>
              <a:srgbClr val="23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Application 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14016" y="2670048"/>
            <a:ext cx="1572768" cy="548640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ctr"/>
            <a:r>
              <a:rPr sz="1100" b="0">
                <a:solidFill>
                  <a:srgbClr val="252D36"/>
                </a:solidFill>
                <a:latin typeface="Aptos"/>
              </a:rPr>
              <a:t>Requests a loss run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041648" y="2084831"/>
            <a:ext cx="265176" cy="228600"/>
          </a:xfrm>
          <a:prstGeom prst="rightArrow">
            <a:avLst/>
          </a:prstGeom>
          <a:solidFill>
            <a:srgbClr val="E8A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52544" y="1874519"/>
            <a:ext cx="1572768" cy="658368"/>
          </a:xfrm>
          <a:prstGeom prst="roundRect">
            <a:avLst/>
          </a:prstGeom>
          <a:solidFill>
            <a:srgbClr val="18918C"/>
          </a:solidFill>
          <a:ln w="15240">
            <a:solidFill>
              <a:srgbClr val="189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FastAPI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52544" y="2670048"/>
            <a:ext cx="1572768" cy="548640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ctr"/>
            <a:r>
              <a:rPr sz="1100" b="0">
                <a:solidFill>
                  <a:srgbClr val="252D36"/>
                </a:solidFill>
                <a:latin typeface="Aptos"/>
              </a:rPr>
              <a:t>Validates and coordinates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980176" y="2084831"/>
            <a:ext cx="265176" cy="228600"/>
          </a:xfrm>
          <a:prstGeom prst="rightArrow">
            <a:avLst/>
          </a:prstGeom>
          <a:solidFill>
            <a:srgbClr val="E8A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91072" y="1874519"/>
            <a:ext cx="1572768" cy="658368"/>
          </a:xfrm>
          <a:prstGeom prst="roundRect">
            <a:avLst/>
          </a:prstGeom>
          <a:solidFill>
            <a:srgbClr val="E8A633"/>
          </a:solidFill>
          <a:ln w="15240">
            <a:solidFill>
              <a:srgbClr val="E8A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SAC_Loss_Run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91072" y="2670048"/>
            <a:ext cx="1572768" cy="548640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ctr"/>
            <a:r>
              <a:rPr sz="1100" b="0">
                <a:solidFill>
                  <a:srgbClr val="252D36"/>
                </a:solidFill>
                <a:latin typeface="Aptos"/>
              </a:rPr>
              <a:t>Returns selected customer's data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918704" y="2084831"/>
            <a:ext cx="265176" cy="228600"/>
          </a:xfrm>
          <a:prstGeom prst="rightArrow">
            <a:avLst/>
          </a:prstGeom>
          <a:solidFill>
            <a:srgbClr val="E8A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29600" y="1874519"/>
            <a:ext cx="1572768" cy="658368"/>
          </a:xfrm>
          <a:prstGeom prst="roundRect">
            <a:avLst/>
          </a:prstGeom>
          <a:solidFill>
            <a:srgbClr val="368959"/>
          </a:solidFill>
          <a:ln w="15240">
            <a:solidFill>
              <a:srgbClr val="368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Excel service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670048"/>
            <a:ext cx="1572768" cy="548640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ctr"/>
            <a:r>
              <a:rPr sz="1100" b="0">
                <a:solidFill>
                  <a:srgbClr val="252D36"/>
                </a:solidFill>
                <a:latin typeface="Aptos"/>
              </a:rPr>
              <a:t>Fills existing template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857232" y="2084831"/>
            <a:ext cx="265176" cy="228600"/>
          </a:xfrm>
          <a:prstGeom prst="rightArrow">
            <a:avLst/>
          </a:prstGeom>
          <a:solidFill>
            <a:srgbClr val="E8A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168128" y="1874519"/>
            <a:ext cx="1572768" cy="658368"/>
          </a:xfrm>
          <a:prstGeom prst="roundRect">
            <a:avLst/>
          </a:prstGeom>
          <a:solidFill>
            <a:srgbClr val="142A4A"/>
          </a:solidFill>
          <a:ln w="15240">
            <a:solidFill>
              <a:srgbClr val="14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Download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68128" y="2670048"/>
            <a:ext cx="1572768" cy="548640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ctr"/>
            <a:r>
              <a:rPr sz="1100" b="0">
                <a:solidFill>
                  <a:srgbClr val="252D36"/>
                </a:solidFill>
                <a:latin typeface="Aptos"/>
              </a:rPr>
              <a:t>Returns .xlsx to user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05072"/>
            <a:ext cx="1143000" cy="384048"/>
          </a:xfrm>
          <a:prstGeom prst="roundRect">
            <a:avLst/>
          </a:prstGeom>
          <a:solidFill>
            <a:srgbClr val="18918C"/>
          </a:solidFill>
          <a:ln w="15240">
            <a:solidFill>
              <a:srgbClr val="189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Reuse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57400" y="4005072"/>
            <a:ext cx="9144000" cy="384048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1500" b="0">
                <a:solidFill>
                  <a:srgbClr val="252D36"/>
                </a:solidFill>
                <a:latin typeface="Aptos"/>
              </a:rPr>
              <a:t>Database view • business calculations • Excel template • authentication • database connection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" y="4800600"/>
            <a:ext cx="1143000" cy="384048"/>
          </a:xfrm>
          <a:prstGeom prst="roundRect">
            <a:avLst/>
          </a:prstGeom>
          <a:solidFill>
            <a:srgbClr val="E8A633"/>
          </a:solidFill>
          <a:ln w="15240">
            <a:solidFill>
              <a:srgbClr val="E8A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Adapt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4800600"/>
            <a:ext cx="9144000" cy="384048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1500" b="0">
                <a:solidFill>
                  <a:srgbClr val="252D36"/>
                </a:solidFill>
                <a:latin typeface="Aptos"/>
              </a:rPr>
              <a:t>Databricks-specific code • file handling • API response • user feedback and error handling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733288"/>
            <a:ext cx="2487168" cy="320040"/>
          </a:xfrm>
          <a:prstGeom prst="roundRect">
            <a:avLst/>
          </a:prstGeom>
          <a:solidFill>
            <a:srgbClr val="2369A0"/>
          </a:solidFill>
          <a:ln w="15240">
            <a:solidFill>
              <a:srgbClr val="23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PROPOSAL — NOT YET IMPLEMENTED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510528"/>
            <a:ext cx="9875520" cy="164592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800" b="0">
                <a:solidFill>
                  <a:srgbClr val="6F7A86"/>
                </a:solidFill>
                <a:latin typeface="Aptos"/>
              </a:rPr>
              <a:t>Discovery summary • Based on supplied notebook and SQL view definition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18520" y="6473952"/>
            <a:ext cx="502920" cy="201168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r"/>
            <a:r>
              <a:rPr sz="900" b="1">
                <a:solidFill>
                  <a:srgbClr val="142A4A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4114800" cy="228600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900" b="1">
                <a:solidFill>
                  <a:srgbClr val="18918C"/>
                </a:solidFill>
                <a:latin typeface="Aptos"/>
              </a:rPr>
              <a:t>DISCOVERY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12064"/>
            <a:ext cx="10972800" cy="502920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2600" b="1">
                <a:solidFill>
                  <a:srgbClr val="142A4A"/>
                </a:solidFill>
                <a:latin typeface="Aptos"/>
              </a:rPr>
              <a:t>Key considerations before delivery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914400" cy="54864"/>
          </a:xfrm>
          <a:prstGeom prst="rect">
            <a:avLst/>
          </a:prstGeom>
          <a:solidFill>
            <a:srgbClr val="E8A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67512" y="1444752"/>
            <a:ext cx="3401568" cy="457200"/>
          </a:xfrm>
          <a:prstGeom prst="roundRect">
            <a:avLst/>
          </a:prstGeom>
          <a:solidFill>
            <a:srgbClr val="2369A0"/>
          </a:solidFill>
          <a:ln w="15240">
            <a:solidFill>
              <a:srgbClr val="23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Template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" y="1956816"/>
            <a:ext cx="3401568" cy="1097280"/>
          </a:xfrm>
          <a:prstGeom prst="roundRect">
            <a:avLst/>
          </a:prstGeom>
          <a:solidFill>
            <a:srgbClr val="F4F6F8"/>
          </a:solidFill>
          <a:ln w="15240">
            <a:solidFill>
              <a:srgbClr val="DB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300" b="0">
                <a:solidFill>
                  <a:srgbClr val="252D36"/>
                </a:solidFill>
                <a:latin typeface="Aptos"/>
              </a:rPr>
              <a:t>Confirm the approved workbook and required visual fidelity.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9704" y="1444752"/>
            <a:ext cx="3401568" cy="457200"/>
          </a:xfrm>
          <a:prstGeom prst="roundRect">
            <a:avLst/>
          </a:prstGeom>
          <a:solidFill>
            <a:srgbClr val="18918C"/>
          </a:solidFill>
          <a:ln w="15240">
            <a:solidFill>
              <a:srgbClr val="189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Access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9704" y="1956816"/>
            <a:ext cx="3401568" cy="1097280"/>
          </a:xfrm>
          <a:prstGeom prst="roundRect">
            <a:avLst/>
          </a:prstGeom>
          <a:solidFill>
            <a:srgbClr val="F4F6F8"/>
          </a:solidFill>
          <a:ln w="15240">
            <a:solidFill>
              <a:srgbClr val="DB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300" b="0">
                <a:solidFill>
                  <a:srgbClr val="252D36"/>
                </a:solidFill>
                <a:latin typeface="Aptos"/>
              </a:rPr>
              <a:t>Confirm application permission to read the reporting view.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11896" y="1444752"/>
            <a:ext cx="3401568" cy="457200"/>
          </a:xfrm>
          <a:prstGeom prst="roundRect">
            <a:avLst/>
          </a:prstGeom>
          <a:solidFill>
            <a:srgbClr val="E8A633"/>
          </a:solidFill>
          <a:ln w="15240">
            <a:solidFill>
              <a:srgbClr val="E8A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Performance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11896" y="1956816"/>
            <a:ext cx="3401568" cy="1097280"/>
          </a:xfrm>
          <a:prstGeom prst="roundRect">
            <a:avLst/>
          </a:prstGeom>
          <a:solidFill>
            <a:srgbClr val="F4F6F8"/>
          </a:solidFill>
          <a:ln w="15240">
            <a:solidFill>
              <a:srgbClr val="DB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300" b="0">
                <a:solidFill>
                  <a:srgbClr val="252D36"/>
                </a:solidFill>
                <a:latin typeface="Aptos"/>
              </a:rPr>
              <a:t>Measure generation time for customers with large claim volumes.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" y="3438144"/>
            <a:ext cx="3401568" cy="457200"/>
          </a:xfrm>
          <a:prstGeom prst="roundRect">
            <a:avLst/>
          </a:prstGeom>
          <a:solidFill>
            <a:srgbClr val="368959"/>
          </a:solidFill>
          <a:ln w="15240">
            <a:solidFill>
              <a:srgbClr val="368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Security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" y="3950208"/>
            <a:ext cx="3401568" cy="1097280"/>
          </a:xfrm>
          <a:prstGeom prst="roundRect">
            <a:avLst/>
          </a:prstGeom>
          <a:solidFill>
            <a:srgbClr val="F4F6F8"/>
          </a:solidFill>
          <a:ln w="15240">
            <a:solidFill>
              <a:srgbClr val="DB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300" b="0">
                <a:solidFill>
                  <a:srgbClr val="252D36"/>
                </a:solidFill>
                <a:latin typeface="Aptos"/>
              </a:rPr>
              <a:t>Confirm which users may generate which customer reports.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9704" y="3438144"/>
            <a:ext cx="3401568" cy="457200"/>
          </a:xfrm>
          <a:prstGeom prst="roundRect">
            <a:avLst/>
          </a:prstGeom>
          <a:solidFill>
            <a:srgbClr val="142A4A"/>
          </a:solidFill>
          <a:ln w="15240">
            <a:solidFill>
              <a:srgbClr val="14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Delivery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9704" y="3950208"/>
            <a:ext cx="3401568" cy="1097280"/>
          </a:xfrm>
          <a:prstGeom prst="roundRect">
            <a:avLst/>
          </a:prstGeom>
          <a:solidFill>
            <a:srgbClr val="F4F6F8"/>
          </a:solidFill>
          <a:ln w="15240">
            <a:solidFill>
              <a:srgbClr val="DB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300" b="0">
                <a:solidFill>
                  <a:srgbClr val="252D36"/>
                </a:solidFill>
                <a:latin typeface="Aptos"/>
              </a:rPr>
              <a:t>Decide immediate download, storage, email—or a later phase.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11896" y="3438144"/>
            <a:ext cx="3401568" cy="457200"/>
          </a:xfrm>
          <a:prstGeom prst="roundRect">
            <a:avLst/>
          </a:prstGeom>
          <a:solidFill>
            <a:srgbClr val="BB4949"/>
          </a:solidFill>
          <a:ln w="15240">
            <a:solidFill>
              <a:srgbClr val="BB4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Validation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11896" y="3950208"/>
            <a:ext cx="3401568" cy="1097280"/>
          </a:xfrm>
          <a:prstGeom prst="roundRect">
            <a:avLst/>
          </a:prstGeom>
          <a:solidFill>
            <a:srgbClr val="F4F6F8"/>
          </a:solidFill>
          <a:ln w="15240">
            <a:solidFill>
              <a:srgbClr val="DB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300" b="0">
                <a:solidFill>
                  <a:srgbClr val="252D36"/>
                </a:solidFill>
                <a:latin typeface="Aptos"/>
              </a:rPr>
              <a:t>Compare new output with a known-good current report.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5559552"/>
            <a:ext cx="1965960" cy="420624"/>
          </a:xfrm>
          <a:prstGeom prst="roundRect">
            <a:avLst/>
          </a:prstGeom>
          <a:solidFill>
            <a:srgbClr val="142A4A"/>
          </a:solidFill>
          <a:ln w="15240">
            <a:solidFill>
              <a:srgbClr val="14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Recommended first scope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360" y="5559552"/>
            <a:ext cx="8275320" cy="384048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1500" b="0">
                <a:solidFill>
                  <a:srgbClr val="252D36"/>
                </a:solidFill>
                <a:latin typeface="Aptos"/>
              </a:rPr>
              <a:t>Generate one selected customer's workbook and return it to the authenticated user.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10528"/>
            <a:ext cx="9875520" cy="164592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800" b="0">
                <a:solidFill>
                  <a:srgbClr val="6F7A86"/>
                </a:solidFill>
                <a:latin typeface="Aptos"/>
              </a:rPr>
              <a:t>Discovery summary • Based on supplied notebook and SQL view definition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18520" y="6473952"/>
            <a:ext cx="502920" cy="201168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r"/>
            <a:r>
              <a:rPr sz="900" b="1">
                <a:solidFill>
                  <a:srgbClr val="142A4A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4114800" cy="228600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900" b="1">
                <a:solidFill>
                  <a:srgbClr val="18918C"/>
                </a:solidFill>
                <a:latin typeface="Aptos"/>
              </a:rPr>
              <a:t>CLIENT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12064"/>
            <a:ext cx="10972800" cy="502920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2600" b="1">
                <a:solidFill>
                  <a:srgbClr val="142A4A"/>
                </a:solidFill>
                <a:latin typeface="Aptos"/>
              </a:rPr>
              <a:t>What is confirmed—and what remains open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914400" cy="54864"/>
          </a:xfrm>
          <a:prstGeom prst="rect">
            <a:avLst/>
          </a:prstGeom>
          <a:solidFill>
            <a:srgbClr val="E8A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353312"/>
            <a:ext cx="5394960" cy="493776"/>
          </a:xfrm>
          <a:prstGeom prst="roundRect">
            <a:avLst/>
          </a:prstGeom>
          <a:solidFill>
            <a:srgbClr val="368959"/>
          </a:solidFill>
          <a:ln w="15240">
            <a:solidFill>
              <a:srgbClr val="368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CONFIRMED FROM SUPPLIED MATERIAL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112264"/>
            <a:ext cx="91440" cy="91440"/>
          </a:xfrm>
          <a:prstGeom prst="ellipse">
            <a:avLst/>
          </a:prstGeom>
          <a:solidFill>
            <a:srgbClr val="368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2011680"/>
            <a:ext cx="4782312" cy="603503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1400" b="0">
                <a:solidFill>
                  <a:srgbClr val="252D36"/>
                </a:solidFill>
                <a:latin typeface="Aptos"/>
              </a:rPr>
              <a:t>Two databases on the same server / managed instance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2715768"/>
            <a:ext cx="91440" cy="91440"/>
          </a:xfrm>
          <a:prstGeom prst="ellipse">
            <a:avLst/>
          </a:prstGeom>
          <a:solidFill>
            <a:srgbClr val="368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2615184"/>
            <a:ext cx="4782312" cy="603503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1400" b="0">
                <a:solidFill>
                  <a:srgbClr val="252D36"/>
                </a:solidFill>
                <a:latin typeface="Aptos"/>
              </a:rPr>
              <a:t>SAC_Loss_Run supplies the prepared report data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3319272"/>
            <a:ext cx="91440" cy="91440"/>
          </a:xfrm>
          <a:prstGeom prst="ellipse">
            <a:avLst/>
          </a:prstGeom>
          <a:solidFill>
            <a:srgbClr val="368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3218688"/>
            <a:ext cx="4782312" cy="603503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1400" b="0">
                <a:solidFill>
                  <a:srgbClr val="252D36"/>
                </a:solidFill>
                <a:latin typeface="Aptos"/>
              </a:rPr>
              <a:t>Existing workbook template is populated per customer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3922776"/>
            <a:ext cx="91440" cy="91440"/>
          </a:xfrm>
          <a:prstGeom prst="ellipse">
            <a:avLst/>
          </a:prstGeom>
          <a:solidFill>
            <a:srgbClr val="368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3822191"/>
            <a:ext cx="4782312" cy="603503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1400" b="0">
                <a:solidFill>
                  <a:srgbClr val="252D36"/>
                </a:solidFill>
                <a:latin typeface="Aptos"/>
              </a:rPr>
              <a:t>Normal claims and Record Only incidents are separated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4526280"/>
            <a:ext cx="91440" cy="91440"/>
          </a:xfrm>
          <a:prstGeom prst="ellipse">
            <a:avLst/>
          </a:prstGeom>
          <a:solidFill>
            <a:srgbClr val="368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4425696"/>
            <a:ext cx="4782312" cy="603503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1400" b="0">
                <a:solidFill>
                  <a:srgbClr val="252D36"/>
                </a:solidFill>
                <a:latin typeface="Aptos"/>
              </a:rPr>
              <a:t>Output is an editable Microsoft Excel workbook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9632" y="1353312"/>
            <a:ext cx="5321808" cy="493776"/>
          </a:xfrm>
          <a:prstGeom prst="roundRect">
            <a:avLst/>
          </a:prstGeom>
          <a:solidFill>
            <a:srgbClr val="E8A633"/>
          </a:solidFill>
          <a:ln w="15240">
            <a:solidFill>
              <a:srgbClr val="E8A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TO CONFIRM WITH CLIENT</a:t>
            </a:r>
          </a:p>
        </p:txBody>
      </p:sp>
      <p:sp>
        <p:nvSpPr>
          <p:cNvPr id="17" name="Oval 16"/>
          <p:cNvSpPr/>
          <p:nvPr/>
        </p:nvSpPr>
        <p:spPr>
          <a:xfrm>
            <a:off x="6382512" y="2112264"/>
            <a:ext cx="91440" cy="91440"/>
          </a:xfrm>
          <a:prstGeom prst="ellipse">
            <a:avLst/>
          </a:prstGeom>
          <a:solidFill>
            <a:srgbClr val="E8A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2011680"/>
            <a:ext cx="4690872" cy="603503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1400" b="0">
                <a:solidFill>
                  <a:srgbClr val="252D36"/>
                </a:solidFill>
                <a:latin typeface="Aptos"/>
              </a:rPr>
              <a:t>One-customer download, batch generation, or both</a:t>
            </a:r>
          </a:p>
        </p:txBody>
      </p:sp>
      <p:sp>
        <p:nvSpPr>
          <p:cNvPr id="19" name="Oval 18"/>
          <p:cNvSpPr/>
          <p:nvPr/>
        </p:nvSpPr>
        <p:spPr>
          <a:xfrm>
            <a:off x="6382512" y="2715768"/>
            <a:ext cx="91440" cy="91440"/>
          </a:xfrm>
          <a:prstGeom prst="ellipse">
            <a:avLst/>
          </a:prstGeom>
          <a:solidFill>
            <a:srgbClr val="E8A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2615184"/>
            <a:ext cx="4690872" cy="603503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1400" b="0">
                <a:solidFill>
                  <a:srgbClr val="252D36"/>
                </a:solidFill>
                <a:latin typeface="Aptos"/>
              </a:rPr>
              <a:t>Immediate download versus stored or emailed report</a:t>
            </a:r>
          </a:p>
        </p:txBody>
      </p:sp>
      <p:sp>
        <p:nvSpPr>
          <p:cNvPr id="21" name="Oval 20"/>
          <p:cNvSpPr/>
          <p:nvPr/>
        </p:nvSpPr>
        <p:spPr>
          <a:xfrm>
            <a:off x="6382512" y="3319272"/>
            <a:ext cx="91440" cy="91440"/>
          </a:xfrm>
          <a:prstGeom prst="ellipse">
            <a:avLst/>
          </a:prstGeom>
          <a:solidFill>
            <a:srgbClr val="E8A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3218688"/>
            <a:ext cx="4690872" cy="603503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1400" b="0">
                <a:solidFill>
                  <a:srgbClr val="252D36"/>
                </a:solidFill>
                <a:latin typeface="Aptos"/>
              </a:rPr>
              <a:t>Approved template and exact output-matching expectation</a:t>
            </a:r>
          </a:p>
        </p:txBody>
      </p:sp>
      <p:sp>
        <p:nvSpPr>
          <p:cNvPr id="23" name="Oval 22"/>
          <p:cNvSpPr/>
          <p:nvPr/>
        </p:nvSpPr>
        <p:spPr>
          <a:xfrm>
            <a:off x="6382512" y="3922776"/>
            <a:ext cx="91440" cy="91440"/>
          </a:xfrm>
          <a:prstGeom prst="ellipse">
            <a:avLst/>
          </a:prstGeom>
          <a:solidFill>
            <a:srgbClr val="E8A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3822191"/>
            <a:ext cx="4690872" cy="603503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1400" b="0">
                <a:solidFill>
                  <a:srgbClr val="252D36"/>
                </a:solidFill>
                <a:latin typeface="Aptos"/>
              </a:rPr>
              <a:t>Business rules and date-range expectations</a:t>
            </a:r>
          </a:p>
        </p:txBody>
      </p:sp>
      <p:sp>
        <p:nvSpPr>
          <p:cNvPr id="25" name="Oval 24"/>
          <p:cNvSpPr/>
          <p:nvPr/>
        </p:nvSpPr>
        <p:spPr>
          <a:xfrm>
            <a:off x="6382512" y="4526280"/>
            <a:ext cx="91440" cy="91440"/>
          </a:xfrm>
          <a:prstGeom prst="ellipse">
            <a:avLst/>
          </a:prstGeom>
          <a:solidFill>
            <a:srgbClr val="E8A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4425696"/>
            <a:ext cx="4690872" cy="603503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1400" b="0">
                <a:solidFill>
                  <a:srgbClr val="252D36"/>
                </a:solidFill>
                <a:latin typeface="Aptos"/>
              </a:rPr>
              <a:t>Expected user permissions and report volumes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01568" y="5559552"/>
            <a:ext cx="1874519" cy="438912"/>
          </a:xfrm>
          <a:prstGeom prst="roundRect">
            <a:avLst/>
          </a:prstGeom>
          <a:solidFill>
            <a:srgbClr val="142A4A"/>
          </a:solidFill>
          <a:ln w="15240">
            <a:solidFill>
              <a:srgbClr val="14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Proposed next step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04688" y="5559552"/>
            <a:ext cx="5230368" cy="411480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1500" b="1">
                <a:solidFill>
                  <a:srgbClr val="142A4A"/>
                </a:solidFill>
                <a:latin typeface="Aptos"/>
              </a:rPr>
              <a:t>Validate one representative customer and agree the target user experience.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510528"/>
            <a:ext cx="9875520" cy="164592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800" b="0">
                <a:solidFill>
                  <a:srgbClr val="6F7A86"/>
                </a:solidFill>
                <a:latin typeface="Aptos"/>
              </a:rPr>
              <a:t>Discovery summary • Based on supplied notebook and SQL view definition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18520" y="6473952"/>
            <a:ext cx="502920" cy="201168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r"/>
            <a:r>
              <a:rPr sz="900" b="1">
                <a:solidFill>
                  <a:srgbClr val="142A4A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4114800" cy="228600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900" b="1">
                <a:solidFill>
                  <a:srgbClr val="18918C"/>
                </a:solidFill>
                <a:latin typeface="Aptos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12064"/>
            <a:ext cx="10972800" cy="502920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2600" b="1">
                <a:solidFill>
                  <a:srgbClr val="142A4A"/>
                </a:solidFill>
                <a:latin typeface="Aptos"/>
              </a:rPr>
              <a:t>Technical source reference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914400" cy="54864"/>
          </a:xfrm>
          <a:prstGeom prst="rect">
            <a:avLst/>
          </a:prstGeom>
          <a:solidFill>
            <a:srgbClr val="E8A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5303520" cy="292608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1600" b="1">
                <a:solidFill>
                  <a:srgbClr val="2369A0"/>
                </a:solidFill>
                <a:latin typeface="Aptos"/>
              </a:rPr>
              <a:t>Claims and reference sources — CLM_LakeHouse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883664"/>
            <a:ext cx="91440" cy="91440"/>
          </a:xfrm>
          <a:prstGeom prst="ellipse">
            <a:avLst/>
          </a:prstGeom>
          <a:solidFill>
            <a:srgbClr val="23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783080"/>
            <a:ext cx="5239512" cy="541020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1200" b="0">
                <a:solidFill>
                  <a:srgbClr val="252D36"/>
                </a:solidFill>
                <a:latin typeface="Aptos"/>
              </a:rPr>
              <a:t>DW_CLMS_CLM_DIMNSN — claims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424683"/>
            <a:ext cx="91440" cy="91440"/>
          </a:xfrm>
          <a:prstGeom prst="ellipse">
            <a:avLst/>
          </a:prstGeom>
          <a:solidFill>
            <a:srgbClr val="23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324100"/>
            <a:ext cx="5239512" cy="541020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1200" b="0">
                <a:solidFill>
                  <a:srgbClr val="252D36"/>
                </a:solidFill>
                <a:latin typeface="Aptos"/>
              </a:rPr>
              <a:t>DW_CLMS_FTR_DIMNSN — claim features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965704"/>
            <a:ext cx="91440" cy="91440"/>
          </a:xfrm>
          <a:prstGeom prst="ellipse">
            <a:avLst/>
          </a:prstGeom>
          <a:solidFill>
            <a:srgbClr val="23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865120"/>
            <a:ext cx="5239512" cy="541020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1200" b="0">
                <a:solidFill>
                  <a:srgbClr val="252D36"/>
                </a:solidFill>
                <a:latin typeface="Aptos"/>
              </a:rPr>
              <a:t>DW_FINCL_LOSS_FTR_SS_F — financial feature totals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506723"/>
            <a:ext cx="91440" cy="91440"/>
          </a:xfrm>
          <a:prstGeom prst="ellipse">
            <a:avLst/>
          </a:prstGeom>
          <a:solidFill>
            <a:srgbClr val="23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406139"/>
            <a:ext cx="5239512" cy="541020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1200" b="0">
                <a:solidFill>
                  <a:srgbClr val="252D36"/>
                </a:solidFill>
                <a:latin typeface="Aptos"/>
              </a:rPr>
              <a:t>DW_FINCL_LOSS_TXN_SS_F — financial transactions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4047744"/>
            <a:ext cx="91440" cy="91440"/>
          </a:xfrm>
          <a:prstGeom prst="ellipse">
            <a:avLst/>
          </a:prstGeom>
          <a:solidFill>
            <a:srgbClr val="23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3947160"/>
            <a:ext cx="5239512" cy="541020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1200" b="0">
                <a:solidFill>
                  <a:srgbClr val="252D36"/>
                </a:solidFill>
                <a:latin typeface="Aptos"/>
              </a:rPr>
              <a:t>DW_POL_DIMNSN — policies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4588764"/>
            <a:ext cx="91440" cy="91440"/>
          </a:xfrm>
          <a:prstGeom prst="ellipse">
            <a:avLst/>
          </a:prstGeom>
          <a:solidFill>
            <a:srgbClr val="23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4488180"/>
            <a:ext cx="5239512" cy="541020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1200" b="0">
                <a:solidFill>
                  <a:srgbClr val="252D36"/>
                </a:solidFill>
                <a:latin typeface="Aptos"/>
              </a:rPr>
              <a:t>DW_CLMS_CLMNT_DIMNSN — claimants</a:t>
            </a:r>
          </a:p>
        </p:txBody>
      </p:sp>
      <p:sp>
        <p:nvSpPr>
          <p:cNvPr id="18" name="Oval 17"/>
          <p:cNvSpPr/>
          <p:nvPr/>
        </p:nvSpPr>
        <p:spPr>
          <a:xfrm>
            <a:off x="6099048" y="1883664"/>
            <a:ext cx="91440" cy="91440"/>
          </a:xfrm>
          <a:prstGeom prst="ellipse">
            <a:avLst/>
          </a:prstGeom>
          <a:solidFill>
            <a:srgbClr val="23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0216" y="1783080"/>
            <a:ext cx="5193792" cy="649224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1200" b="0">
                <a:solidFill>
                  <a:srgbClr val="252D36"/>
                </a:solidFill>
                <a:latin typeface="Aptos"/>
              </a:rPr>
              <a:t>DW_CLMS_DRVR_DIMNSN / CLM_CNTCT_DIMNSN — drivers</a:t>
            </a:r>
          </a:p>
        </p:txBody>
      </p:sp>
      <p:sp>
        <p:nvSpPr>
          <p:cNvPr id="20" name="Oval 19"/>
          <p:cNvSpPr/>
          <p:nvPr/>
        </p:nvSpPr>
        <p:spPr>
          <a:xfrm>
            <a:off x="6099048" y="2532888"/>
            <a:ext cx="91440" cy="91440"/>
          </a:xfrm>
          <a:prstGeom prst="ellipse">
            <a:avLst/>
          </a:prstGeom>
          <a:solidFill>
            <a:srgbClr val="23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0216" y="2432304"/>
            <a:ext cx="5193792" cy="649224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1200" b="0">
                <a:solidFill>
                  <a:srgbClr val="252D36"/>
                </a:solidFill>
                <a:latin typeface="Aptos"/>
              </a:rPr>
              <a:t>DW_CLMS_VEH_DIMNSN — vehicles</a:t>
            </a:r>
          </a:p>
        </p:txBody>
      </p:sp>
      <p:sp>
        <p:nvSpPr>
          <p:cNvPr id="22" name="Oval 21"/>
          <p:cNvSpPr/>
          <p:nvPr/>
        </p:nvSpPr>
        <p:spPr>
          <a:xfrm>
            <a:off x="6099048" y="3182112"/>
            <a:ext cx="91440" cy="91440"/>
          </a:xfrm>
          <a:prstGeom prst="ellipse">
            <a:avLst/>
          </a:prstGeom>
          <a:solidFill>
            <a:srgbClr val="23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0216" y="3081528"/>
            <a:ext cx="5193792" cy="649224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1200" b="0">
                <a:solidFill>
                  <a:srgbClr val="252D36"/>
                </a:solidFill>
                <a:latin typeface="Aptos"/>
              </a:rPr>
              <a:t>DW_CLMS_LGL_FACT / LGL_DIMNSN — litigation</a:t>
            </a:r>
          </a:p>
        </p:txBody>
      </p:sp>
      <p:sp>
        <p:nvSpPr>
          <p:cNvPr id="24" name="Oval 23"/>
          <p:cNvSpPr/>
          <p:nvPr/>
        </p:nvSpPr>
        <p:spPr>
          <a:xfrm>
            <a:off x="6099048" y="3831336"/>
            <a:ext cx="91440" cy="91440"/>
          </a:xfrm>
          <a:prstGeom prst="ellipse">
            <a:avLst/>
          </a:prstGeom>
          <a:solidFill>
            <a:srgbClr val="23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0216" y="3730752"/>
            <a:ext cx="5193792" cy="649224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1200" b="0">
                <a:solidFill>
                  <a:srgbClr val="252D36"/>
                </a:solidFill>
                <a:latin typeface="Aptos"/>
              </a:rPr>
              <a:t>DW_REF_MAJ_PERIL — peril reference</a:t>
            </a:r>
          </a:p>
        </p:txBody>
      </p:sp>
      <p:sp>
        <p:nvSpPr>
          <p:cNvPr id="26" name="Oval 25"/>
          <p:cNvSpPr/>
          <p:nvPr/>
        </p:nvSpPr>
        <p:spPr>
          <a:xfrm>
            <a:off x="6099048" y="4480560"/>
            <a:ext cx="91440" cy="91440"/>
          </a:xfrm>
          <a:prstGeom prst="ellipse">
            <a:avLst/>
          </a:prstGeom>
          <a:solidFill>
            <a:srgbClr val="23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0216" y="4379976"/>
            <a:ext cx="5193792" cy="649224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1200" b="0">
                <a:solidFill>
                  <a:srgbClr val="252D36"/>
                </a:solidFill>
                <a:latin typeface="Aptos"/>
              </a:rPr>
              <a:t>DM_RETNTN_PRDCNG_AGNT_HR_D — producing agent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3232" y="5175504"/>
            <a:ext cx="2240280" cy="438912"/>
          </a:xfrm>
          <a:prstGeom prst="roundRect">
            <a:avLst/>
          </a:prstGeom>
          <a:solidFill>
            <a:srgbClr val="18918C"/>
          </a:solidFill>
          <a:ln w="15240">
            <a:solidFill>
              <a:srgbClr val="189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CLMAA_SpecialAccounts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82112" y="5175504"/>
            <a:ext cx="7973568" cy="420624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1400" b="0">
                <a:solidFill>
                  <a:srgbClr val="252D36"/>
                </a:solidFill>
                <a:latin typeface="Aptos"/>
              </a:rPr>
              <a:t>tblAcctSpecial — eligible customer configuration   •   SAC_Loss_Run — reporting view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3232" y="5806440"/>
            <a:ext cx="2240280" cy="438912"/>
          </a:xfrm>
          <a:prstGeom prst="roundRect">
            <a:avLst/>
          </a:prstGeom>
          <a:solidFill>
            <a:srgbClr val="E8A633"/>
          </a:solidFill>
          <a:ln w="15240">
            <a:solidFill>
              <a:srgbClr val="E8A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Notebook assets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82112" y="5806440"/>
            <a:ext cx="7973568" cy="420624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1400" b="0">
                <a:solidFill>
                  <a:srgbClr val="252D36"/>
                </a:solidFill>
                <a:latin typeface="Aptos"/>
              </a:rPr>
              <a:t>SACLossRunTemplate.xlsx   •   Databricks Unity Catalog volume   •   .xlsx output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510528"/>
            <a:ext cx="9875520" cy="164592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800" b="0">
                <a:solidFill>
                  <a:srgbClr val="6F7A86"/>
                </a:solidFill>
                <a:latin typeface="Aptos"/>
              </a:rPr>
              <a:t>Appendix • Technical object names from supplied materials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18520" y="6473952"/>
            <a:ext cx="502920" cy="201168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r"/>
            <a:r>
              <a:rPr sz="900" b="1">
                <a:solidFill>
                  <a:srgbClr val="142A4A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Special Accounts Loss Run Generation — Understanding and Proposal</dc:title>
  <dc:subject>Current-state flow and potential FastAPI application integration</dc:subject>
  <dc:creator>Affinity project team</dc:creator>
  <cp:keywords>loss run, Special Accounts, FastAPI, Databricks, Excel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